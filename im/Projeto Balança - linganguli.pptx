
<file path=[Content_Types].xml><?xml version="1.0" encoding="utf-8"?>
<Types xmlns="http://schemas.openxmlformats.org/package/2006/content-types">
  <Default Extension="png" ContentType="image/png"/>
  <Default Extension="jpeg" ContentType="image/jpeg"/>
  <Default Extension="glb" ContentType="model/gltf.binary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</p14:sldIdLst>
        </p14:section>
        <p14:section name="Learn More" id="{62756D7E-964E-493A-83A1-13BC0B6B5E4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598" autoAdjust="0"/>
  </p:normalViewPr>
  <p:slideViewPr>
    <p:cSldViewPr snapToGrid="0">
      <p:cViewPr varScale="1">
        <p:scale>
          <a:sx n="105" d="100"/>
          <a:sy n="105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22/04/2026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5.png"/><Relationship Id="rId4" Type="http://schemas.microsoft.com/office/2017/06/relationships/model3d" Target="../media/model3d1.glb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17/06/relationships/model3d" Target="../media/model3d1.glb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://go.microsoft.com/fwlink/?LinkId=62332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hyperlink" Target="http://go.microsoft.com/fwlink/?LinkId=617172" TargetMode="Externa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1322535"/>
            <a:ext cx="9144000" cy="1790700"/>
          </a:xfrm>
        </p:spPr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Balança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linganguli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12136"/>
            <a:ext cx="4649321" cy="25452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 txBox="1">
            <a:spLocks/>
          </p:cNvSpPr>
          <p:nvPr/>
        </p:nvSpPr>
        <p:spPr>
          <a:xfrm>
            <a:off x="597408" y="5945886"/>
            <a:ext cx="11362944" cy="1824228"/>
          </a:xfrm>
          <a:prstGeom prst="rect">
            <a:avLst/>
          </a:prstGeom>
        </p:spPr>
        <p:txBody>
          <a:bodyPr vert="horz" lIns="91440" tIns="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Rodrigo Alexandre Coelho da Silva – up202306189</a:t>
            </a:r>
          </a:p>
          <a:p>
            <a:r>
              <a:rPr lang="en-US" sz="1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Gonçalo Pereira Dias – up202306369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dirty="0" err="1" smtClean="0"/>
              <a:t>Montagem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 err="1" smtClean="0"/>
              <a:t>Balança</a:t>
            </a:r>
            <a:r>
              <a:rPr lang="en-US" dirty="0" smtClean="0"/>
              <a:t> com </a:t>
            </a:r>
            <a:r>
              <a:rPr lang="en-US" dirty="0" err="1" smtClean="0"/>
              <a:t>ponte</a:t>
            </a:r>
            <a:r>
              <a:rPr lang="en-US" dirty="0" smtClean="0"/>
              <a:t> de Wheatstone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/>
          <a:lstStyle/>
          <a:p>
            <a:pPr lvl="0"/>
            <a:r>
              <a:rPr lang="en-US" dirty="0" err="1" smtClean="0"/>
              <a:t>Eu</a:t>
            </a:r>
            <a:r>
              <a:rPr lang="en-US" dirty="0" smtClean="0"/>
              <a:t> </a:t>
            </a:r>
            <a:r>
              <a:rPr lang="en-US" dirty="0" err="1" smtClean="0"/>
              <a:t>escolhi</a:t>
            </a:r>
            <a:r>
              <a:rPr lang="en-US" dirty="0" smtClean="0"/>
              <a:t> x </a:t>
            </a:r>
            <a:r>
              <a:rPr lang="en-US" dirty="0" err="1" smtClean="0"/>
              <a:t>porque</a:t>
            </a:r>
            <a:r>
              <a:rPr lang="en-US" dirty="0" smtClean="0"/>
              <a:t> sim e etc…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03" y="1507068"/>
            <a:ext cx="3438487" cy="1653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290" y="3620401"/>
            <a:ext cx="2553056" cy="23053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608" y="3440154"/>
            <a:ext cx="4318315" cy="26658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652" y="1531861"/>
            <a:ext cx="3009722" cy="160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Insert a 3D Model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5CDB0-AD30-4DBB-AC55-D824F09C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1604210"/>
            <a:ext cx="4712634" cy="4805161"/>
          </a:xfrm>
        </p:spPr>
        <p:txBody>
          <a:bodyPr>
            <a:normAutofit/>
          </a:bodyPr>
          <a:lstStyle/>
          <a:p>
            <a:r>
              <a:rPr lang="en-US" dirty="0"/>
              <a:t>To Insert a 3D Model:</a:t>
            </a:r>
          </a:p>
          <a:p>
            <a:pPr marL="457200" lvl="1" indent="-47625">
              <a:lnSpc>
                <a:spcPts val="1800"/>
              </a:lnSpc>
            </a:pPr>
            <a:r>
              <a:rPr lang="en-US" dirty="0"/>
              <a:t>From the Ribbon, go to</a:t>
            </a:r>
            <a:br>
              <a:rPr lang="en-US" dirty="0"/>
            </a:b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Insert</a:t>
            </a:r>
            <a:r>
              <a:rPr lang="en-US" dirty="0"/>
              <a:t> 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3D Models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-or- </a:t>
            </a:r>
            <a:br>
              <a:rPr lang="en-US" dirty="0"/>
            </a:b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Insert</a:t>
            </a:r>
            <a:r>
              <a:rPr lang="en-US" dirty="0"/>
              <a:t> 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3D</a:t>
            </a:r>
            <a:r>
              <a:rPr lang="en-US" dirty="0"/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Models</a:t>
            </a:r>
            <a:r>
              <a:rPr lang="en-US" dirty="0"/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 Online Sources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That will open the Online 3D Models Window where you can search or browse categories of various 3D models, right from within PowerPoint.</a:t>
            </a:r>
          </a:p>
          <a:p>
            <a:pPr marL="457200" lvl="1" indent="-47625">
              <a:lnSpc>
                <a:spcPts val="1800"/>
              </a:lnSpc>
            </a:pP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Hint: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need to be online when you add the model.</a:t>
            </a:r>
            <a:endParaRPr lang="en-US" dirty="0"/>
          </a:p>
          <a:p>
            <a:pPr marL="457200" lvl="1" indent="-47625">
              <a:lnSpc>
                <a:spcPts val="1800"/>
              </a:lnSpc>
            </a:pPr>
            <a:r>
              <a:rPr lang="en-US" dirty="0"/>
              <a:t>To search for a keyword,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type a word </a:t>
            </a:r>
            <a:r>
              <a:rPr lang="en-US" dirty="0"/>
              <a:t>or phrase into the search box at the top of the window and press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enter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457200" lvl="1" indent="-47625"/>
            <a:r>
              <a:rPr lang="en-US" dirty="0"/>
              <a:t>To insert a 3D Model,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click</a:t>
            </a:r>
            <a:r>
              <a:rPr lang="en-US" dirty="0"/>
              <a:t> or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tap</a:t>
            </a:r>
            <a:r>
              <a:rPr lang="en-US" dirty="0"/>
              <a:t> on the model 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Insert</a:t>
            </a:r>
            <a:r>
              <a:rPr lang="en-US" dirty="0"/>
              <a:t>.</a:t>
            </a:r>
          </a:p>
          <a:p>
            <a:pPr marL="457200" lvl="1" indent="-47625">
              <a:lnSpc>
                <a:spcPts val="1800"/>
              </a:lnSpc>
            </a:pPr>
            <a:r>
              <a:rPr lang="en-US" dirty="0"/>
              <a:t>The 3D Model will now be downloaded and placed onto your PowerPoint slide.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572B26-98AF-4AA8-9A0F-435FBBFB6E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 bwMode="blackWhite">
          <a:xfrm>
            <a:off x="604200" y="198572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1FC095-7AF2-4B5E-A691-FF792B5BC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715429" y="4074039"/>
            <a:ext cx="187380" cy="278885"/>
            <a:chOff x="5052041" y="3023897"/>
            <a:chExt cx="1009650" cy="15027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B894430-AD6A-4951-BB8A-4C66BE674C0B}"/>
                </a:ext>
              </a:extLst>
            </p:cNvPr>
            <p:cNvSpPr/>
            <p:nvPr/>
          </p:nvSpPr>
          <p:spPr>
            <a:xfrm>
              <a:off x="5052041" y="3023897"/>
              <a:ext cx="1009650" cy="1295400"/>
            </a:xfrm>
            <a:custGeom>
              <a:avLst/>
              <a:gdLst>
                <a:gd name="connsiteX0" fmla="*/ 684848 w 1009650"/>
                <a:gd name="connsiteY0" fmla="*/ 1231583 h 1295400"/>
                <a:gd name="connsiteX1" fmla="*/ 329565 w 1009650"/>
                <a:gd name="connsiteY1" fmla="*/ 1231583 h 1295400"/>
                <a:gd name="connsiteX2" fmla="*/ 328613 w 1009650"/>
                <a:gd name="connsiteY2" fmla="*/ 1056323 h 1295400"/>
                <a:gd name="connsiteX3" fmla="*/ 71438 w 1009650"/>
                <a:gd name="connsiteY3" fmla="*/ 504825 h 1295400"/>
                <a:gd name="connsiteX4" fmla="*/ 504825 w 1009650"/>
                <a:gd name="connsiteY4" fmla="*/ 71438 h 1295400"/>
                <a:gd name="connsiteX5" fmla="*/ 508635 w 1009650"/>
                <a:gd name="connsiteY5" fmla="*/ 71438 h 1295400"/>
                <a:gd name="connsiteX6" fmla="*/ 942023 w 1009650"/>
                <a:gd name="connsiteY6" fmla="*/ 504825 h 1295400"/>
                <a:gd name="connsiteX7" fmla="*/ 684848 w 1009650"/>
                <a:gd name="connsiteY7" fmla="*/ 1055370 h 1295400"/>
                <a:gd name="connsiteX8" fmla="*/ 684848 w 1009650"/>
                <a:gd name="connsiteY8" fmla="*/ 123158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295400">
                  <a:moveTo>
                    <a:pt x="684848" y="1231583"/>
                  </a:moveTo>
                  <a:lnTo>
                    <a:pt x="329565" y="1231583"/>
                  </a:lnTo>
                  <a:lnTo>
                    <a:pt x="328613" y="1056323"/>
                  </a:lnTo>
                  <a:cubicBezTo>
                    <a:pt x="328613" y="816293"/>
                    <a:pt x="71438" y="744855"/>
                    <a:pt x="71438" y="504825"/>
                  </a:cubicBezTo>
                  <a:cubicBezTo>
                    <a:pt x="71438" y="264795"/>
                    <a:pt x="265748" y="71438"/>
                    <a:pt x="504825" y="71438"/>
                  </a:cubicBezTo>
                  <a:lnTo>
                    <a:pt x="508635" y="71438"/>
                  </a:lnTo>
                  <a:cubicBezTo>
                    <a:pt x="748665" y="71438"/>
                    <a:pt x="942023" y="265748"/>
                    <a:pt x="942023" y="504825"/>
                  </a:cubicBezTo>
                  <a:cubicBezTo>
                    <a:pt x="942023" y="743903"/>
                    <a:pt x="684848" y="816293"/>
                    <a:pt x="684848" y="1055370"/>
                  </a:cubicBezTo>
                  <a:lnTo>
                    <a:pt x="684848" y="1231583"/>
                  </a:lnTo>
                  <a:close/>
                </a:path>
              </a:pathLst>
            </a:custGeom>
            <a:noFill/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7DD3E4-24F0-4493-9F21-04685133F0EA}"/>
                </a:ext>
              </a:extLst>
            </p:cNvPr>
            <p:cNvSpPr/>
            <p:nvPr/>
          </p:nvSpPr>
          <p:spPr>
            <a:xfrm>
              <a:off x="5366365" y="4383724"/>
              <a:ext cx="381000" cy="142875"/>
            </a:xfrm>
            <a:custGeom>
              <a:avLst/>
              <a:gdLst>
                <a:gd name="connsiteX0" fmla="*/ 71438 w 381000"/>
                <a:gd name="connsiteY0" fmla="*/ 71437 h 142875"/>
                <a:gd name="connsiteX1" fmla="*/ 313373 w 381000"/>
                <a:gd name="connsiteY1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142875">
                  <a:moveTo>
                    <a:pt x="71438" y="71437"/>
                  </a:moveTo>
                  <a:lnTo>
                    <a:pt x="313373" y="71437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79BFBD-1795-4967-8112-196AA0A32CA3}"/>
                </a:ext>
              </a:extLst>
            </p:cNvPr>
            <p:cNvSpPr/>
            <p:nvPr/>
          </p:nvSpPr>
          <p:spPr>
            <a:xfrm>
              <a:off x="5310168" y="3958952"/>
              <a:ext cx="495301" cy="142874"/>
            </a:xfrm>
            <a:custGeom>
              <a:avLst/>
              <a:gdLst>
                <a:gd name="connsiteX0" fmla="*/ 71437 w 495300"/>
                <a:gd name="connsiteY0" fmla="*/ 71438 h 142875"/>
                <a:gd name="connsiteX1" fmla="*/ 426720 w 495300"/>
                <a:gd name="connsiteY1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300" h="142875">
                  <a:moveTo>
                    <a:pt x="71437" y="71438"/>
                  </a:moveTo>
                  <a:lnTo>
                    <a:pt x="426720" y="71438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C851C4E8-1EC2-4782-B31A-6F082712F3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 bwMode="blackWhite">
          <a:xfrm>
            <a:off x="604200" y="4518993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D3B53A-9E90-4B19-BA5D-E8F4971E21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 bwMode="blackWhite">
          <a:xfrm>
            <a:off x="604200" y="535748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grpSp>
        <p:nvGrpSpPr>
          <p:cNvPr id="14" name="Group 13" descr="toolbar screenshot&#10;">
            <a:extLst>
              <a:ext uri="{FF2B5EF4-FFF2-40B4-BE49-F238E27FC236}">
                <a16:creationId xmlns:a16="http://schemas.microsoft.com/office/drawing/2014/main" id="{273D36C0-C373-42B7-8548-374F6D28DDEA}"/>
              </a:ext>
            </a:extLst>
          </p:cNvPr>
          <p:cNvGrpSpPr/>
          <p:nvPr/>
        </p:nvGrpSpPr>
        <p:grpSpPr>
          <a:xfrm>
            <a:off x="5231397" y="1384595"/>
            <a:ext cx="6659452" cy="3134398"/>
            <a:chOff x="5231397" y="1384595"/>
            <a:chExt cx="6659452" cy="3134398"/>
          </a:xfrm>
        </p:grpSpPr>
        <p:pic>
          <p:nvPicPr>
            <p:cNvPr id="23" name="Picture 22" descr="Screenshot of the Insert tab in PowerPoint with the 3D Models button open, and the &quot;From Online Sources&quot; option selected. Below, there is a Search Results window open to display search result for the keyword &quot;atom.&quot;">
              <a:extLst>
                <a:ext uri="{FF2B5EF4-FFF2-40B4-BE49-F238E27FC236}">
                  <a16:creationId xmlns:a16="http://schemas.microsoft.com/office/drawing/2014/main" id="{AAE643FE-5722-4685-98B0-67689FCFA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55063"/>
            <a:stretch/>
          </p:blipFill>
          <p:spPr>
            <a:xfrm>
              <a:off x="5231397" y="1384595"/>
              <a:ext cx="6659452" cy="2430321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915B38-B420-452E-A10E-79778074A246}"/>
                </a:ext>
              </a:extLst>
            </p:cNvPr>
            <p:cNvSpPr/>
            <p:nvPr/>
          </p:nvSpPr>
          <p:spPr>
            <a:xfrm>
              <a:off x="5417574" y="3195484"/>
              <a:ext cx="3588774" cy="132350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Have Your Own 3D Model? You Can Import It!</a:t>
            </a:r>
            <a:endParaRPr lang="en-US" dirty="0"/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3"/>
            <a:ext cx="4321175" cy="191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PowerPoint allows you to import a variety of popular 3D model formats. 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no matter your workflows outside of PowerPoint, you should be able to find a suitable solution to make your 3D models portable and presentable to virtually anyone, anywhere and on any device (with just a few quick modifications)</a:t>
            </a:r>
          </a:p>
        </p:txBody>
      </p:sp>
      <p:sp>
        <p:nvSpPr>
          <p:cNvPr id="11" name="Directions">
            <a:extLst>
              <a:ext uri="{FF2B5EF4-FFF2-40B4-BE49-F238E27FC236}">
                <a16:creationId xmlns:a16="http://schemas.microsoft.com/office/drawing/2014/main" id="{1AF2FBBE-B7D3-452C-9253-F7C472312B69}"/>
              </a:ext>
            </a:extLst>
          </p:cNvPr>
          <p:cNvSpPr txBox="1">
            <a:spLocks/>
          </p:cNvSpPr>
          <p:nvPr/>
        </p:nvSpPr>
        <p:spPr>
          <a:xfrm>
            <a:off x="474516" y="3651363"/>
            <a:ext cx="2175299" cy="299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Insert a 3D Model:</a:t>
            </a:r>
          </a:p>
        </p:txBody>
      </p:sp>
      <p:sp>
        <p:nvSpPr>
          <p:cNvPr id="9" name="Number 1" descr="Number 1">
            <a:extLst>
              <a:ext uri="{FF2B5EF4-FFF2-40B4-BE49-F238E27FC236}">
                <a16:creationId xmlns:a16="http://schemas.microsoft.com/office/drawing/2014/main" id="{60C7D78B-18F1-458F-AF3B-1293CFF9F517}"/>
              </a:ext>
            </a:extLst>
          </p:cNvPr>
          <p:cNvSpPr/>
          <p:nvPr/>
        </p:nvSpPr>
        <p:spPr bwMode="blackWhite">
          <a:xfrm>
            <a:off x="546159" y="4067641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Step 1">
            <a:extLst>
              <a:ext uri="{FF2B5EF4-FFF2-40B4-BE49-F238E27FC236}">
                <a16:creationId xmlns:a16="http://schemas.microsoft.com/office/drawing/2014/main" id="{42184CEA-CF4E-4D47-96E0-8F669A14DC71}"/>
              </a:ext>
            </a:extLst>
          </p:cNvPr>
          <p:cNvSpPr txBox="1">
            <a:spLocks/>
          </p:cNvSpPr>
          <p:nvPr/>
        </p:nvSpPr>
        <p:spPr>
          <a:xfrm>
            <a:off x="999477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 to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3D Models from a </a:t>
            </a:r>
            <a:r>
              <a:rPr lang="en-US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File…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will open the Insert 3D Model Window where you can search your computer, network or cloud drive for any saved 3D </a:t>
            </a:r>
            <a:r>
              <a:rPr lang="en-US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models.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Number 2" descr="Number 2">
            <a:extLst>
              <a:ext uri="{FF2B5EF4-FFF2-40B4-BE49-F238E27FC236}">
                <a16:creationId xmlns:a16="http://schemas.microsoft.com/office/drawing/2014/main" id="{95D049CF-C399-43F8-9E11-8273E7ED2B3D}"/>
              </a:ext>
            </a:extLst>
          </p:cNvPr>
          <p:cNvSpPr/>
          <p:nvPr/>
        </p:nvSpPr>
        <p:spPr bwMode="blackWhite">
          <a:xfrm>
            <a:off x="4820987" y="4067641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Step 2" descr="Insert the 3D model by selecting the file and clicking on Insert.&#10;The 3D Model will now be placed onto your PowerPoint slide">
            <a:extLst>
              <a:ext uri="{FF2B5EF4-FFF2-40B4-BE49-F238E27FC236}">
                <a16:creationId xmlns:a16="http://schemas.microsoft.com/office/drawing/2014/main" id="{6505E4CF-C408-4CF2-86B6-BD142EBF6F92}"/>
              </a:ext>
            </a:extLst>
          </p:cNvPr>
          <p:cNvSpPr txBox="1">
            <a:spLocks/>
          </p:cNvSpPr>
          <p:nvPr/>
        </p:nvSpPr>
        <p:spPr>
          <a:xfrm>
            <a:off x="5274554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Insert the 3D model by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selecting the file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clicking on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3D Model will now be placed onto your PowerPoint slide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41D473-73BD-403B-8CC7-EDE9320AD7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38675" y="1518115"/>
            <a:ext cx="5721170" cy="1866468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270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747CAC-F3CB-4212-A786-9FB8FC4E15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68629" y="2868230"/>
            <a:ext cx="6318174" cy="640080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Insert Tab" descr="Screenshot of the PowerPoint Insert Tab with the 3D Models button menu open, and the From a File option selected. The &quot;All 3D Models&quot; option is selected from the Save As window.">
            <a:extLst>
              <a:ext uri="{FF2B5EF4-FFF2-40B4-BE49-F238E27FC236}">
                <a16:creationId xmlns:a16="http://schemas.microsoft.com/office/drawing/2014/main" id="{424B1EB4-F31C-4594-8AF7-78D76E32C28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728" b="2417"/>
          <a:stretch/>
        </p:blipFill>
        <p:spPr>
          <a:xfrm>
            <a:off x="5640159" y="1511299"/>
            <a:ext cx="5724449" cy="135652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8CEC241-3C1D-4165-BA5D-4660474D5F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8893994" y="2152821"/>
            <a:ext cx="1498544" cy="1498542"/>
            <a:chOff x="9186130" y="2141836"/>
            <a:chExt cx="1498544" cy="149854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E5E67BD-7A9A-4F78-A092-09BD185251D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/>
          </p:nvSpPr>
          <p:spPr>
            <a:xfrm>
              <a:off x="9186130" y="2141836"/>
              <a:ext cx="1498544" cy="1498542"/>
            </a:xfrm>
            <a:prstGeom prst="ellipse">
              <a:avLst/>
            </a:prstGeom>
            <a:noFill/>
            <a:ln w="101600">
              <a:solidFill>
                <a:schemeClr val="tx1">
                  <a:alpha val="2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AB45D60-ED4A-46EC-AD0C-17D4880727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48414" y="2204118"/>
              <a:ext cx="1373977" cy="137397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/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A5D818A-6772-4140-9BA1-3E5C4AC850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10017084" y="1839905"/>
            <a:ext cx="1866468" cy="894830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58000">
                <a:srgbClr val="F5F5F5">
                  <a:alpha val="8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393259-4463-453C-AAC3-C1FCC92B39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002" y="2925137"/>
            <a:ext cx="2628571" cy="1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Position and Rotate Your 3D Model</a:t>
            </a:r>
          </a:p>
        </p:txBody>
      </p:sp>
      <p:sp>
        <p:nvSpPr>
          <p:cNvPr id="11" name="Content Placeholder 17" descr="Try them yourself with the parrot on the right:">
            <a:extLst>
              <a:ext uri="{FF2B5EF4-FFF2-40B4-BE49-F238E27FC236}">
                <a16:creationId xmlns:a16="http://schemas.microsoft.com/office/drawing/2014/main" id="{AF2B300A-3A97-40E0-AA9A-37A944B1DAF8}"/>
              </a:ext>
            </a:extLst>
          </p:cNvPr>
          <p:cNvSpPr txBox="1">
            <a:spLocks/>
          </p:cNvSpPr>
          <p:nvPr/>
        </p:nvSpPr>
        <p:spPr>
          <a:xfrm>
            <a:off x="630366" y="1431342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Try them yourself with the parrot on the right:</a:t>
            </a:r>
          </a:p>
        </p:txBody>
      </p:sp>
      <p:sp>
        <p:nvSpPr>
          <p:cNvPr id="12" name="Number 1" descr="Method 1">
            <a:extLst>
              <a:ext uri="{FF2B5EF4-FFF2-40B4-BE49-F238E27FC236}">
                <a16:creationId xmlns:a16="http://schemas.microsoft.com/office/drawing/2014/main" id="{56816014-A74F-4DCC-B3EB-C797CAF4E802}"/>
              </a:ext>
            </a:extLst>
          </p:cNvPr>
          <p:cNvSpPr/>
          <p:nvPr/>
        </p:nvSpPr>
        <p:spPr bwMode="blackWhite">
          <a:xfrm>
            <a:off x="630366" y="1917997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3" name="Step 1 Text" descr="Click on your 3D Model: Click and hold on the 3D control to rotate or tilt your 3D model up, down, left, and right.">
            <a:extLst>
              <a:ext uri="{FF2B5EF4-FFF2-40B4-BE49-F238E27FC236}">
                <a16:creationId xmlns:a16="http://schemas.microsoft.com/office/drawing/2014/main" id="{5294FC26-E2BF-454F-B123-404EA194A3E3}"/>
              </a:ext>
            </a:extLst>
          </p:cNvPr>
          <p:cNvSpPr txBox="1">
            <a:spLocks/>
          </p:cNvSpPr>
          <p:nvPr/>
        </p:nvSpPr>
        <p:spPr>
          <a:xfrm>
            <a:off x="1066038" y="1958189"/>
            <a:ext cx="2613067" cy="1186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Click on your 3D Model: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Click and hold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the 3D control to rotate or tilt your 3D model up, down, left, and right.</a:t>
            </a:r>
          </a:p>
        </p:txBody>
      </p:sp>
      <p:grpSp>
        <p:nvGrpSpPr>
          <p:cNvPr id="36" name="3D Control Image Group" descr="Close-up of the 3D Control">
            <a:extLst>
              <a:ext uri="{FF2B5EF4-FFF2-40B4-BE49-F238E27FC236}">
                <a16:creationId xmlns:a16="http://schemas.microsoft.com/office/drawing/2014/main" id="{25679F3D-7EC6-46A6-BC22-525E813580BB}"/>
              </a:ext>
            </a:extLst>
          </p:cNvPr>
          <p:cNvGrpSpPr/>
          <p:nvPr/>
        </p:nvGrpSpPr>
        <p:grpSpPr>
          <a:xfrm>
            <a:off x="3704939" y="1697308"/>
            <a:ext cx="2454520" cy="1689408"/>
            <a:chOff x="3704939" y="1697308"/>
            <a:chExt cx="2454520" cy="16894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F80BCD5-FD01-46B5-B455-200FE0512D5D}"/>
                </a:ext>
              </a:extLst>
            </p:cNvPr>
            <p:cNvGrpSpPr/>
            <p:nvPr/>
          </p:nvGrpSpPr>
          <p:grpSpPr>
            <a:xfrm>
              <a:off x="3704939" y="1697308"/>
              <a:ext cx="2454520" cy="1689408"/>
              <a:chOff x="3712735" y="1697308"/>
              <a:chExt cx="2454520" cy="1689408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3BEC2FA-40A3-4712-AFFA-9D14591AC14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-8188"/>
              <a:stretch/>
            </p:blipFill>
            <p:spPr>
              <a:xfrm>
                <a:off x="4619010" y="1838716"/>
                <a:ext cx="1548245" cy="1548000"/>
              </a:xfrm>
              <a:prstGeom prst="ellipse">
                <a:avLst/>
              </a:prstGeom>
              <a:solidFill>
                <a:srgbClr val="F5F5F5"/>
              </a:solidFill>
              <a:ln w="25400">
                <a:solidFill>
                  <a:schemeClr val="bg1"/>
                </a:solidFill>
              </a:ln>
              <a:effectLst>
                <a:outerShdw blurRad="190500" dist="38100" dir="13500000" algn="br" rotWithShape="0">
                  <a:prstClr val="black">
                    <a:alpha val="15000"/>
                  </a:prstClr>
                </a:outerShdw>
              </a:effectLst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52F9595-6E5D-47EA-8164-ED5193FFED79}"/>
                  </a:ext>
                </a:extLst>
              </p:cNvPr>
              <p:cNvGrpSpPr/>
              <p:nvPr/>
            </p:nvGrpSpPr>
            <p:grpSpPr>
              <a:xfrm>
                <a:off x="3712735" y="1697308"/>
                <a:ext cx="1265464" cy="1318408"/>
                <a:chOff x="3712735" y="1697308"/>
                <a:chExt cx="1265464" cy="1318408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48F9CD-D431-4BD4-853D-9C8B9B7C0AD9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 txBox="1"/>
                <p:nvPr/>
              </p:nvSpPr>
              <p:spPr>
                <a:xfrm>
                  <a:off x="3712735" y="2754106"/>
                  <a:ext cx="8835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3D Control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4880AB-65DA-416A-B5B2-51D9F346B20F}"/>
                    </a:ext>
                  </a:extLst>
                </p:cNvPr>
                <p:cNvGrpSpPr/>
                <p:nvPr/>
              </p:nvGrpSpPr>
              <p:grpSpPr>
                <a:xfrm>
                  <a:off x="3988016" y="1697308"/>
                  <a:ext cx="990183" cy="990182"/>
                  <a:chOff x="3913220" y="1693155"/>
                  <a:chExt cx="871067" cy="871066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E84E379F-3B8E-4B61-9F07-8607534910CB}"/>
                      </a:ext>
                    </a:extLst>
                  </p:cNvPr>
                  <p:cNvGrpSpPr/>
                  <p:nvPr/>
                </p:nvGrpSpPr>
                <p:grpSpPr>
                  <a:xfrm>
                    <a:off x="3913220" y="1693155"/>
                    <a:ext cx="871067" cy="871066"/>
                    <a:chOff x="4167658" y="3457039"/>
                    <a:chExt cx="1498544" cy="1498542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B4D8FF61-B8D7-4F52-8165-C133E2DF0E1F}"/>
                        </a:ext>
                        <a:ext uri="{C183D7F6-B498-43B3-948B-1728B52AA6E4}">
                          <adec:decorative xmlns:adec="http://schemas.microsoft.com/office/drawing/2017/decorative" xmlns="" val="1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67658" y="3457039"/>
                      <a:ext cx="1498544" cy="1498542"/>
                    </a:xfrm>
                    <a:prstGeom prst="ellipse">
                      <a:avLst/>
                    </a:prstGeom>
                    <a:noFill/>
                    <a:ln w="101600">
                      <a:solidFill>
                        <a:schemeClr val="tx1">
                          <a:alpha val="2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U"/>
                    </a:p>
                  </p:txBody>
                </p:sp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7E154C01-63E9-445A-ACB8-73C090B982B6}"/>
                        </a:ext>
                        <a:ext uri="{C183D7F6-B498-43B3-948B-1728B52AA6E4}">
                          <adec:decorative xmlns:adec="http://schemas.microsoft.com/office/drawing/2017/decorative" xmlns="" val="1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229941" y="3519322"/>
                      <a:ext cx="1373977" cy="1373977"/>
                    </a:xfrm>
                    <a:prstGeom prst="ellipse">
                      <a:avLst/>
                    </a:prstGeom>
                    <a:solidFill>
                      <a:srgbClr val="F5F5F5"/>
                    </a:solidFill>
                    <a:ln w="2540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U"/>
                    </a:p>
                  </p:txBody>
                </p: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1B35E89F-DBBF-47E6-BE9A-5FCC6F58A71B}"/>
                      </a:ext>
                    </a:extLst>
                  </p:cNvPr>
                  <p:cNvGrpSpPr/>
                  <p:nvPr/>
                </p:nvGrpSpPr>
                <p:grpSpPr>
                  <a:xfrm>
                    <a:off x="4019309" y="1818782"/>
                    <a:ext cx="619814" cy="619812"/>
                    <a:chOff x="5395606" y="2945201"/>
                    <a:chExt cx="507758" cy="507758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BDCC4146-8BD7-4D40-8AAF-AB0442D8FD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95606" y="2945201"/>
                      <a:ext cx="507758" cy="507758"/>
                      <a:chOff x="5395606" y="2945201"/>
                      <a:chExt cx="507758" cy="507758"/>
                    </a:xfrm>
                  </p:grpSpPr>
                  <p:sp>
                    <p:nvSpPr>
                      <p:cNvPr id="26" name="Arc 25">
                        <a:extLst>
                          <a:ext uri="{FF2B5EF4-FFF2-40B4-BE49-F238E27FC236}">
                            <a16:creationId xmlns:a16="http://schemas.microsoft.com/office/drawing/2014/main" id="{D59381D8-E994-4774-9CF7-CB42807E430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555024" y="2942077"/>
                        <a:ext cx="188922" cy="507758"/>
                      </a:xfrm>
                      <a:prstGeom prst="arc">
                        <a:avLst>
                          <a:gd name="adj1" fmla="val 4576378"/>
                          <a:gd name="adj2" fmla="val 11059966"/>
                        </a:avLst>
                      </a:prstGeom>
                      <a:noFill/>
                      <a:ln w="25400" cap="rnd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w="sm" len="med"/>
                        <a:tailEnd type="triangle" w="lg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AU"/>
                      </a:p>
                    </p:txBody>
                  </p:sp>
                  <p:sp>
                    <p:nvSpPr>
                      <p:cNvPr id="27" name="Arc 26">
                        <a:extLst>
                          <a:ext uri="{FF2B5EF4-FFF2-40B4-BE49-F238E27FC236}">
                            <a16:creationId xmlns:a16="http://schemas.microsoft.com/office/drawing/2014/main" id="{DD1E383E-1872-46A3-B64F-66B724D4FFCF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72149" y="2945201"/>
                        <a:ext cx="174922" cy="507758"/>
                      </a:xfrm>
                      <a:prstGeom prst="arc">
                        <a:avLst>
                          <a:gd name="adj1" fmla="val 15117050"/>
                          <a:gd name="adj2" fmla="val 11084764"/>
                        </a:avLst>
                      </a:prstGeom>
                      <a:noFill/>
                      <a:ln w="25400" cap="rnd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w="sm" len="med"/>
                        <a:tailEnd type="triangle" w="lg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AU"/>
                      </a:p>
                    </p:txBody>
                  </p:sp>
                </p:grpSp>
                <p:sp>
                  <p:nvSpPr>
                    <p:cNvPr id="25" name="Arc 24">
                      <a:extLst>
                        <a:ext uri="{FF2B5EF4-FFF2-40B4-BE49-F238E27FC236}">
                          <a16:creationId xmlns:a16="http://schemas.microsoft.com/office/drawing/2014/main" id="{61B6451C-C849-48BC-956E-787738452619}"/>
                        </a:ext>
                        <a:ext uri="{C183D7F6-B498-43B3-948B-1728B52AA6E4}">
                          <adec:decorative xmlns:adec="http://schemas.microsoft.com/office/drawing/2017/decorative" xmlns="" val="1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5024" y="2942077"/>
                      <a:ext cx="188922" cy="507758"/>
                    </a:xfrm>
                    <a:prstGeom prst="arc">
                      <a:avLst>
                        <a:gd name="adj1" fmla="val 14242202"/>
                        <a:gd name="adj2" fmla="val 102366"/>
                      </a:avLst>
                    </a:prstGeom>
                    <a:noFill/>
                    <a:ln w="25400" cap="rnd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sm" len="med"/>
                      <a:tailEnd type="none" w="lg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AU"/>
                    </a:p>
                  </p:txBody>
                </p:sp>
              </p:grpSp>
            </p:grp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5BCDFCC-1BC5-4193-A4C8-4E0EBED828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5173490" y="2375249"/>
              <a:ext cx="419066" cy="419064"/>
              <a:chOff x="4602515" y="3455520"/>
              <a:chExt cx="419066" cy="41906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C49980F-0EF9-4E74-9963-9E42208581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/>
            </p:nvSpPr>
            <p:spPr>
              <a:xfrm>
                <a:off x="4602515" y="3455520"/>
                <a:ext cx="419066" cy="419064"/>
              </a:xfrm>
              <a:prstGeom prst="ellipse">
                <a:avLst/>
              </a:prstGeom>
              <a:solidFill>
                <a:srgbClr val="F5F5F5">
                  <a:alpha val="75000"/>
                </a:srgbClr>
              </a:solidFill>
              <a:ln w="15875" cap="rnd">
                <a:solidFill>
                  <a:srgbClr val="828E7D"/>
                </a:solidFill>
                <a:prstDash val="solid"/>
                <a:round/>
                <a:headEnd w="sm" len="med"/>
                <a:tailEnd w="med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387E48A-D075-4259-8312-1CEA680849F7}"/>
                  </a:ext>
                </a:extLst>
              </p:cNvPr>
              <p:cNvGrpSpPr/>
              <p:nvPr/>
            </p:nvGrpSpPr>
            <p:grpSpPr>
              <a:xfrm>
                <a:off x="4644218" y="3502269"/>
                <a:ext cx="330574" cy="330572"/>
                <a:chOff x="5395606" y="2945201"/>
                <a:chExt cx="507758" cy="507758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881DDF7C-2E66-4389-BF5B-00985205CE47}"/>
                    </a:ext>
                  </a:extLst>
                </p:cNvPr>
                <p:cNvGrpSpPr/>
                <p:nvPr/>
              </p:nvGrpSpPr>
              <p:grpSpPr>
                <a:xfrm>
                  <a:off x="5395606" y="2945201"/>
                  <a:ext cx="507758" cy="507758"/>
                  <a:chOff x="5395606" y="2945201"/>
                  <a:chExt cx="507758" cy="507758"/>
                </a:xfrm>
              </p:grpSpPr>
              <p:sp>
                <p:nvSpPr>
                  <p:cNvPr id="9" name="Arc 8">
                    <a:extLst>
                      <a:ext uri="{FF2B5EF4-FFF2-40B4-BE49-F238E27FC236}">
                        <a16:creationId xmlns:a16="http://schemas.microsoft.com/office/drawing/2014/main" id="{E5916305-18E9-46F7-943B-91FED303DB46}"/>
                      </a:ext>
                      <a:ext uri="{C183D7F6-B498-43B3-948B-1728B52AA6E4}">
                        <adec:decorative xmlns:adec="http://schemas.microsoft.com/office/drawing/2017/decorative" xmlns="" val="1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55024" y="2942077"/>
                    <a:ext cx="188922" cy="507758"/>
                  </a:xfrm>
                  <a:prstGeom prst="arc">
                    <a:avLst>
                      <a:gd name="adj1" fmla="val 4576378"/>
                      <a:gd name="adj2" fmla="val 11059966"/>
                    </a:avLst>
                  </a:prstGeom>
                  <a:noFill/>
                  <a:ln w="15875" cap="rnd">
                    <a:solidFill>
                      <a:srgbClr val="828E7D"/>
                    </a:solidFill>
                    <a:prstDash val="solid"/>
                    <a:round/>
                    <a:headEnd w="sm" len="med"/>
                    <a:tailEnd type="triangle" w="med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AU"/>
                  </a:p>
                </p:txBody>
              </p:sp>
              <p:sp>
                <p:nvSpPr>
                  <p:cNvPr id="10" name="Arc 9">
                    <a:extLst>
                      <a:ext uri="{FF2B5EF4-FFF2-40B4-BE49-F238E27FC236}">
                        <a16:creationId xmlns:a16="http://schemas.microsoft.com/office/drawing/2014/main" id="{0C4CD625-BAFF-46A5-B121-C01C7CD8852E}"/>
                      </a:ext>
                      <a:ext uri="{C183D7F6-B498-43B3-948B-1728B52AA6E4}">
                        <adec:decorative xmlns:adec="http://schemas.microsoft.com/office/drawing/2017/decorative" xmlns="" val="1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572149" y="2945201"/>
                    <a:ext cx="174922" cy="507758"/>
                  </a:xfrm>
                  <a:prstGeom prst="arc">
                    <a:avLst>
                      <a:gd name="adj1" fmla="val 15117050"/>
                      <a:gd name="adj2" fmla="val 11084764"/>
                    </a:avLst>
                  </a:prstGeom>
                  <a:noFill/>
                  <a:ln w="15875" cap="rnd">
                    <a:solidFill>
                      <a:srgbClr val="828E7D"/>
                    </a:solidFill>
                    <a:prstDash val="solid"/>
                    <a:round/>
                    <a:headEnd w="sm" len="med"/>
                    <a:tailEnd type="triangle" w="med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AU"/>
                  </a:p>
                </p:txBody>
              </p:sp>
            </p:grpSp>
            <p:sp>
              <p:nvSpPr>
                <p:cNvPr id="8" name="Arc 7">
                  <a:extLst>
                    <a:ext uri="{FF2B5EF4-FFF2-40B4-BE49-F238E27FC236}">
                      <a16:creationId xmlns:a16="http://schemas.microsoft.com/office/drawing/2014/main" id="{631CB06C-E0F2-4FA3-832F-5AF317894D4A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 rot="16200000">
                  <a:off x="5555024" y="2942077"/>
                  <a:ext cx="188922" cy="507758"/>
                </a:xfrm>
                <a:prstGeom prst="arc">
                  <a:avLst>
                    <a:gd name="adj1" fmla="val 14242202"/>
                    <a:gd name="adj2" fmla="val 102366"/>
                  </a:avLst>
                </a:prstGeom>
                <a:noFill/>
                <a:ln w="15875" cap="rnd">
                  <a:solidFill>
                    <a:srgbClr val="828E7D"/>
                  </a:solidFill>
                  <a:prstDash val="solid"/>
                  <a:round/>
                  <a:headEnd w="sm" len="med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</p:grpSp>
        </p:grpSp>
      </p:grpSp>
      <p:sp>
        <p:nvSpPr>
          <p:cNvPr id="14" name="Step 2 Number" descr="Method 2:">
            <a:extLst>
              <a:ext uri="{FF2B5EF4-FFF2-40B4-BE49-F238E27FC236}">
                <a16:creationId xmlns:a16="http://schemas.microsoft.com/office/drawing/2014/main" id="{9A5A9B9F-B0C0-4A76-B9C7-3C6ED0008BC9}"/>
              </a:ext>
            </a:extLst>
          </p:cNvPr>
          <p:cNvSpPr/>
          <p:nvPr/>
        </p:nvSpPr>
        <p:spPr bwMode="blackWhite">
          <a:xfrm>
            <a:off x="630366" y="320569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Step 2 Text" descr="Alternatively, with your model selected, on the Ribbon, in the 3D Model Tool Format tab, you can click on 3D Model Views gallery to apply one of the various position views.">
            <a:extLst>
              <a:ext uri="{FF2B5EF4-FFF2-40B4-BE49-F238E27FC236}">
                <a16:creationId xmlns:a16="http://schemas.microsoft.com/office/drawing/2014/main" id="{D223119D-72DB-4091-AE4B-0A82DC881E79}"/>
              </a:ext>
            </a:extLst>
          </p:cNvPr>
          <p:cNvSpPr txBox="1">
            <a:spLocks/>
          </p:cNvSpPr>
          <p:nvPr/>
        </p:nvSpPr>
        <p:spPr>
          <a:xfrm>
            <a:off x="1066038" y="3245892"/>
            <a:ext cx="3552966" cy="105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Alternatively, with your model selected, on the Ribbon, in the 3D Model Tool Format tab, you can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click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3D Model Views gallery to apply one of the various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position views.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grpSp>
        <p:nvGrpSpPr>
          <p:cNvPr id="30" name="3D Model Views" descr="Close-up of the 3D Model Views gallery">
            <a:extLst>
              <a:ext uri="{FF2B5EF4-FFF2-40B4-BE49-F238E27FC236}">
                <a16:creationId xmlns:a16="http://schemas.microsoft.com/office/drawing/2014/main" id="{F013A3BF-9F51-4C73-A589-194EBDDC6BB4}"/>
              </a:ext>
            </a:extLst>
          </p:cNvPr>
          <p:cNvGrpSpPr/>
          <p:nvPr/>
        </p:nvGrpSpPr>
        <p:grpSpPr>
          <a:xfrm>
            <a:off x="562844" y="4137295"/>
            <a:ext cx="5177683" cy="2123683"/>
            <a:chOff x="562844" y="4137295"/>
            <a:chExt cx="5177683" cy="212368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205CFA-DB9F-4A08-9B9D-611FE356710D}"/>
                </a:ext>
              </a:extLst>
            </p:cNvPr>
            <p:cNvGrpSpPr/>
            <p:nvPr/>
          </p:nvGrpSpPr>
          <p:grpSpPr>
            <a:xfrm>
              <a:off x="1066038" y="4405113"/>
              <a:ext cx="4318407" cy="1752005"/>
              <a:chOff x="945015" y="4445595"/>
              <a:chExt cx="3589052" cy="1456101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D5AFDD6-E84A-4D4E-B76A-F8BD2B2F223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/>
            </p:nvSpPr>
            <p:spPr>
              <a:xfrm>
                <a:off x="945015" y="4445595"/>
                <a:ext cx="3572863" cy="1456101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>
                <a:outerShdw blurRad="127000" dist="38100" dir="13500000" algn="b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1300DBA-1D19-4CCA-84E9-DFAED409BF2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42" r="1047"/>
              <a:stretch/>
            </p:blipFill>
            <p:spPr>
              <a:xfrm>
                <a:off x="945015" y="4445597"/>
                <a:ext cx="3589052" cy="1403091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A7BDF3D-9D58-4765-981D-02374A7D75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43" t="28026" r="30256" b="1550"/>
            <a:stretch/>
          </p:blipFill>
          <p:spPr>
            <a:xfrm>
              <a:off x="562844" y="4857887"/>
              <a:ext cx="3572863" cy="140309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>
              <a:outerShdw blurRad="127000" dist="38100" dir="135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874168-A094-4AD0-A0AD-34A8D15FE1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6200000">
              <a:off x="4046347" y="4399157"/>
              <a:ext cx="1956041" cy="1432318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  <a:gs pos="55000">
                  <a:srgbClr val="F5F5F5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</p:grp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37" name="3D Model 36" descr="3D image of a parrot">
                <a:extLst>
                  <a:ext uri="{FF2B5EF4-FFF2-40B4-BE49-F238E27FC236}">
                    <a16:creationId xmlns:a16="http://schemas.microsoft.com/office/drawing/2014/main" id="{4483D506-2C3F-4711-94B1-0CC3F8D8F3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4579348"/>
                  </p:ext>
                </p:extLst>
              </p:nvPr>
            </p:nvGraphicFramePr>
            <p:xfrm>
              <a:off x="8134006" y="1431342"/>
              <a:ext cx="1552272" cy="486632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3D Model 36" descr="3D image of a parrot">
                <a:extLst>
                  <a:ext uri="{FF2B5EF4-FFF2-40B4-BE49-F238E27FC236}">
                    <a16:creationId xmlns:a16="http://schemas.microsoft.com/office/drawing/2014/main" id="{4483D506-2C3F-4711-94B1-0CC3F8D8F3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4006" y="1431342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 and Zoom</a:t>
            </a:r>
          </a:p>
        </p:txBody>
      </p:sp>
      <p:sp>
        <p:nvSpPr>
          <p:cNvPr id="3" name="Rectangle 2" descr="To resize or crop your 3D model within a frame, you can use the pan and zoom tool.">
            <a:extLst>
              <a:ext uri="{FF2B5EF4-FFF2-40B4-BE49-F238E27FC236}">
                <a16:creationId xmlns:a16="http://schemas.microsoft.com/office/drawing/2014/main" id="{874312F7-8744-467E-9DCF-F78292FB02D0}"/>
              </a:ext>
            </a:extLst>
          </p:cNvPr>
          <p:cNvSpPr/>
          <p:nvPr/>
        </p:nvSpPr>
        <p:spPr>
          <a:xfrm>
            <a:off x="515938" y="1345489"/>
            <a:ext cx="6096000" cy="3002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resize or crop your 3D model within a frame, you can use the pan and zoom tool.</a:t>
            </a:r>
          </a:p>
        </p:txBody>
      </p: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0" name="3D Model 19" descr="3D model of a parrot from the torso up, from the front">
                <a:extLst>
                  <a:ext uri="{FF2B5EF4-FFF2-40B4-BE49-F238E27FC236}">
                    <a16:creationId xmlns:a16="http://schemas.microsoft.com/office/drawing/2014/main" id="{0669C767-52A4-4999-8261-9B7806803E3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40535312"/>
                  </p:ext>
                </p:extLst>
              </p:nvPr>
            </p:nvGraphicFramePr>
            <p:xfrm>
              <a:off x="1563759" y="1912355"/>
              <a:ext cx="1552272" cy="211638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552272" cy="2116381"/>
                    </a:xfrm>
                    <a:prstGeom prst="rect">
                      <a:avLst/>
                    </a:prstGeom>
                  </am3d:spPr>
                  <am3d:camera>
                    <am3d:pos x="-268418" y="12278049" z="52563001"/>
                    <am3d:up dx="0" dy="36000000" dz="0"/>
                    <am3d:lookAt x="-268418" y="12278049" z="0"/>
                    <am3d:perspective fov="824242"/>
                  </am3d:camera>
                  <am3d:trans>
                    <am3d:meterPerModelUnit n="12089550" d="1000000"/>
                    <am3d:preTrans dx="2005600" dy="-22605202" dz="-606908"/>
                    <am3d:scale>
                      <am3d:sx n="1000000" d="1000000"/>
                      <am3d:sy n="1000000" d="1000000"/>
                      <am3d:sz n="1000000" d="1000000"/>
                    </am3d:scale>
                    <am3d:rot ax="751672" ay="-1275459" az="-276367"/>
                    <am3d:postTrans dx="757208" dy="4622928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 descr="3D model of a parrot from the torso up, from the front">
                <a:extLst>
                  <a:ext uri="{FF2B5EF4-FFF2-40B4-BE49-F238E27FC236}">
                    <a16:creationId xmlns:a16="http://schemas.microsoft.com/office/drawing/2014/main" id="{0669C767-52A4-4999-8261-9B7806803E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3759" y="1912355"/>
                <a:ext cx="1552272" cy="2116381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Step 1" descr="Small circle with number 1 inside indicating step 1">
            <a:extLst>
              <a:ext uri="{FF2B5EF4-FFF2-40B4-BE49-F238E27FC236}">
                <a16:creationId xmlns:a16="http://schemas.microsoft.com/office/drawing/2014/main" id="{A98CACC9-95AD-4FA9-B112-2614409B3034}"/>
              </a:ext>
            </a:extLst>
          </p:cNvPr>
          <p:cNvGrpSpPr/>
          <p:nvPr/>
        </p:nvGrpSpPr>
        <p:grpSpPr bwMode="blackWhite">
          <a:xfrm>
            <a:off x="523554" y="4044150"/>
            <a:ext cx="558179" cy="409838"/>
            <a:chOff x="6953426" y="711274"/>
            <a:chExt cx="558179" cy="409838"/>
          </a:xfrm>
        </p:grpSpPr>
        <p:sp>
          <p:nvSpPr>
            <p:cNvPr id="5" name="Oval 4" descr="Small circle">
              <a:extLst>
                <a:ext uri="{FF2B5EF4-FFF2-40B4-BE49-F238E27FC236}">
                  <a16:creationId xmlns:a16="http://schemas.microsoft.com/office/drawing/2014/main" id="{85E15BFF-C7BD-48F1-ADAD-806664D31D05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 descr="Number 1">
              <a:extLst>
                <a:ext uri="{FF2B5EF4-FFF2-40B4-BE49-F238E27FC236}">
                  <a16:creationId xmlns:a16="http://schemas.microsoft.com/office/drawing/2014/main" id="{8A35519D-559D-4CEF-9805-8DFBFE16F778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7" name="Content Placeholder Step 1" descr="Select your 3D model &gt; 3D Models Format &gt; Pan &amp; Zoom&#10;&#10;Note: the Pan &amp; Zoom tool acts like an on/off (toggle) switch. Once pressed, you’ll see a gray box around the Pan &amp; Zoom button to indicate the feature is activated. Press the button again to deactivate the Pan &amp; Zoom feature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1030869" y="4084342"/>
            <a:ext cx="3034721" cy="2236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your 3D model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3D Models Format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Pan &amp; Zoom</a:t>
            </a:r>
            <a:b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/>
            </a:r>
            <a:b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Note: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Pan &amp; Zoom tool acts like an on/off (toggle) switch. Once pressed, you’ll see a gray box around the Pan &amp; Zoom button to indicate the feature is activated. Press the button again to deactivate the Pan &amp; Zoom feature.</a:t>
            </a:r>
          </a:p>
        </p:txBody>
      </p: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1" name="3D Model 20" descr="3D model of a parrot from the torso up, from the side">
                <a:extLst>
                  <a:ext uri="{FF2B5EF4-FFF2-40B4-BE49-F238E27FC236}">
                    <a16:creationId xmlns:a16="http://schemas.microsoft.com/office/drawing/2014/main" id="{01123BCC-10A2-42F5-86DE-AC1C648A8F7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72618101"/>
                  </p:ext>
                </p:extLst>
              </p:nvPr>
            </p:nvGraphicFramePr>
            <p:xfrm>
              <a:off x="5257883" y="1426650"/>
              <a:ext cx="2147042" cy="263107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7042" cy="2631070"/>
                    </a:xfrm>
                    <a:prstGeom prst="rect">
                      <a:avLst/>
                    </a:prstGeom>
                  </am3d:spPr>
                  <am3d:camera>
                    <am3d:pos x="3761398" y="14119596" z="52563001"/>
                    <am3d:up dx="0" dy="36000000" dz="0"/>
                    <am3d:lookAt x="3761398" y="14119596" z="0"/>
                    <am3d:perspective fov="824242"/>
                  </am3d:camera>
                  <am3d:trans>
                    <am3d:meterPerModelUnit n="12089550" d="1000000"/>
                    <am3d:preTrans dx="2231507" dy="-30285532" dz="-2876686"/>
                    <am3d:scale>
                      <am3d:sx n="1000000" d="1000000"/>
                      <am3d:sy n="1000000" d="1000000"/>
                      <am3d:sz n="1000000" d="1000000"/>
                    </am3d:scale>
                    <am3d:rot ax="407651" ay="3337388" az="336927"/>
                    <am3d:postTrans dx="3304004" dy="12462524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3D Model 20" descr="3D model of a parrot from the torso up, from the side">
                <a:extLst>
                  <a:ext uri="{FF2B5EF4-FFF2-40B4-BE49-F238E27FC236}">
                    <a16:creationId xmlns:a16="http://schemas.microsoft.com/office/drawing/2014/main" id="{01123BCC-10A2-42F5-86DE-AC1C648A8F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7883" y="1426650"/>
                <a:ext cx="2147042" cy="263107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Step 2" descr="Small circle with number 2 inside indicating step 2">
            <a:extLst>
              <a:ext uri="{FF2B5EF4-FFF2-40B4-BE49-F238E27FC236}">
                <a16:creationId xmlns:a16="http://schemas.microsoft.com/office/drawing/2014/main" id="{0134A81D-5B1C-4A76-8173-F064585D6D49}"/>
              </a:ext>
            </a:extLst>
          </p:cNvPr>
          <p:cNvGrpSpPr/>
          <p:nvPr/>
        </p:nvGrpSpPr>
        <p:grpSpPr bwMode="blackWhite">
          <a:xfrm>
            <a:off x="4213933" y="4044150"/>
            <a:ext cx="558179" cy="409838"/>
            <a:chOff x="6953426" y="711274"/>
            <a:chExt cx="558179" cy="409838"/>
          </a:xfrm>
        </p:grpSpPr>
        <p:sp>
          <p:nvSpPr>
            <p:cNvPr id="9" name="Oval 8" descr="Small circle">
              <a:extLst>
                <a:ext uri="{FF2B5EF4-FFF2-40B4-BE49-F238E27FC236}">
                  <a16:creationId xmlns:a16="http://schemas.microsoft.com/office/drawing/2014/main" id="{CE0F87BC-F03F-4D0B-9A96-7530CD918386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 descr="Number 2">
              <a:extLst>
                <a:ext uri="{FF2B5EF4-FFF2-40B4-BE49-F238E27FC236}">
                  <a16:creationId xmlns:a16="http://schemas.microsoft.com/office/drawing/2014/main" id="{558F649E-C746-445A-AB92-6DC92B377D12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11" name="Content Placeholder Step 2" descr="With the Pan &amp; Zoom button enabled, now move, rotate, and resize your 3D model.  ">
            <a:extLst>
              <a:ext uri="{FF2B5EF4-FFF2-40B4-BE49-F238E27FC236}">
                <a16:creationId xmlns:a16="http://schemas.microsoft.com/office/drawing/2014/main" id="{38280C20-AD97-47D9-A4D9-3D51B6EEA886}"/>
              </a:ext>
            </a:extLst>
          </p:cNvPr>
          <p:cNvSpPr txBox="1">
            <a:spLocks/>
          </p:cNvSpPr>
          <p:nvPr/>
        </p:nvSpPr>
        <p:spPr>
          <a:xfrm>
            <a:off x="4712686" y="4084342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the Pan &amp; Zoom button enabled, now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move, rotate, and resize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your 3D model.  </a:t>
            </a:r>
          </a:p>
        </p:txBody>
      </p: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2" name="3D Model 21" descr="3D model of a parrot from the torso up, from the back">
                <a:extLst>
                  <a:ext uri="{FF2B5EF4-FFF2-40B4-BE49-F238E27FC236}">
                    <a16:creationId xmlns:a16="http://schemas.microsoft.com/office/drawing/2014/main" id="{E4FC00AF-B769-4FD1-A5EF-41179EF2E7B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1148195"/>
                  </p:ext>
                </p:extLst>
              </p:nvPr>
            </p:nvGraphicFramePr>
            <p:xfrm>
              <a:off x="8315408" y="1388864"/>
              <a:ext cx="2147042" cy="263107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7042" cy="2631070"/>
                    </a:xfrm>
                    <a:prstGeom prst="rect">
                      <a:avLst/>
                    </a:prstGeom>
                  </am3d:spPr>
                  <am3d:camera>
                    <am3d:pos x="3761398" y="14119596" z="52563001"/>
                    <am3d:up dx="0" dy="36000000" dz="0"/>
                    <am3d:lookAt x="3761398" y="14119596" z="0"/>
                    <am3d:perspective fov="824242"/>
                  </am3d:camera>
                  <am3d:trans>
                    <am3d:meterPerModelUnit n="12089550" d="1000000"/>
                    <am3d:preTrans dx="1882932" dy="-31938905" dz="-3192827"/>
                    <am3d:scale>
                      <am3d:sx n="1000000" d="1000000"/>
                      <am3d:sy n="1000000" d="1000000"/>
                      <am3d:sz n="1000000" d="1000000"/>
                    </am3d:scale>
                    <am3d:rot ax="-9382174" ay="-2025520" az="9980064"/>
                    <am3d:postTrans dx="3761397" dy="14119595" dz="0"/>
                  </am3d:trans>
                  <am3d:raster rName="Office3DRenderer" rVer="16.0.8326">
                    <am3d:blip r:embed="rId7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3D Model 21" descr="3D model of a parrot from the torso up, from the back">
                <a:extLst>
                  <a:ext uri="{FF2B5EF4-FFF2-40B4-BE49-F238E27FC236}">
                    <a16:creationId xmlns:a16="http://schemas.microsoft.com/office/drawing/2014/main" id="{E4FC00AF-B769-4FD1-A5EF-41179EF2E7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5408" y="1388864"/>
                <a:ext cx="2147042" cy="263107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Step 3" descr="Small circle with number 3 inside  indicating step 3">
            <a:extLst>
              <a:ext uri="{FF2B5EF4-FFF2-40B4-BE49-F238E27FC236}">
                <a16:creationId xmlns:a16="http://schemas.microsoft.com/office/drawing/2014/main" id="{07CF4AF3-D618-49AD-BB03-5E5F7A41C8D9}"/>
              </a:ext>
            </a:extLst>
          </p:cNvPr>
          <p:cNvGrpSpPr/>
          <p:nvPr/>
        </p:nvGrpSpPr>
        <p:grpSpPr bwMode="blackWhite">
          <a:xfrm>
            <a:off x="7895752" y="4044150"/>
            <a:ext cx="558179" cy="409838"/>
            <a:chOff x="6953426" y="711274"/>
            <a:chExt cx="558179" cy="409838"/>
          </a:xfrm>
        </p:grpSpPr>
        <p:sp>
          <p:nvSpPr>
            <p:cNvPr id="13" name="Oval 12" descr="Small circle">
              <a:extLst>
                <a:ext uri="{FF2B5EF4-FFF2-40B4-BE49-F238E27FC236}">
                  <a16:creationId xmlns:a16="http://schemas.microsoft.com/office/drawing/2014/main" id="{BE5E6BE8-4DC5-41CD-9A48-850FCE78556C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 descr="Number 3">
              <a:extLst>
                <a:ext uri="{FF2B5EF4-FFF2-40B4-BE49-F238E27FC236}">
                  <a16:creationId xmlns:a16="http://schemas.microsoft.com/office/drawing/2014/main" id="{82CA4843-739A-4E67-906B-55C8A5C992C4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15" name="Content Placeholder Step 3" descr="When you are finished editing, click the Pan &amp; Zoom button again to exit Pan and Zoom mode.">
            <a:extLst>
              <a:ext uri="{FF2B5EF4-FFF2-40B4-BE49-F238E27FC236}">
                <a16:creationId xmlns:a16="http://schemas.microsoft.com/office/drawing/2014/main" id="{89BC12B6-BA4F-4362-A61E-A7B108FEAF3C}"/>
              </a:ext>
            </a:extLst>
          </p:cNvPr>
          <p:cNvSpPr txBox="1">
            <a:spLocks/>
          </p:cNvSpPr>
          <p:nvPr/>
        </p:nvSpPr>
        <p:spPr>
          <a:xfrm>
            <a:off x="8394499" y="4084341"/>
            <a:ext cx="2658635" cy="1171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you are finished editing, click the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Pan &amp; Zoom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button again to exit Pan and Zoom mode.</a:t>
            </a: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Animate Your 3D Model Using the Morph Transition</a:t>
            </a:r>
          </a:p>
        </p:txBody>
      </p:sp>
      <p:sp>
        <p:nvSpPr>
          <p:cNvPr id="3" name="Content Placeholder 17" descr="Try it yourself with the parrot on the right:">
            <a:extLst>
              <a:ext uri="{FF2B5EF4-FFF2-40B4-BE49-F238E27FC236}">
                <a16:creationId xmlns:a16="http://schemas.microsoft.com/office/drawing/2014/main" id="{97AA353E-E722-4B84-B6FC-BA525C346A84}"/>
              </a:ext>
            </a:extLst>
          </p:cNvPr>
          <p:cNvSpPr txBox="1">
            <a:spLocks/>
          </p:cNvSpPr>
          <p:nvPr/>
        </p:nvSpPr>
        <p:spPr>
          <a:xfrm>
            <a:off x="541609" y="1319644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Try it yourself with the parrot on the right:</a:t>
            </a:r>
          </a:p>
        </p:txBody>
      </p:sp>
      <p:grpSp>
        <p:nvGrpSpPr>
          <p:cNvPr id="4" name="Group 3" descr="Small circle with number 1 inside  indicating step 1">
            <a:extLst>
              <a:ext uri="{FF2B5EF4-FFF2-40B4-BE49-F238E27FC236}">
                <a16:creationId xmlns:a16="http://schemas.microsoft.com/office/drawing/2014/main" id="{3269B3D7-5745-49A6-89FF-2081F3701FD9}"/>
              </a:ext>
            </a:extLst>
          </p:cNvPr>
          <p:cNvGrpSpPr/>
          <p:nvPr/>
        </p:nvGrpSpPr>
        <p:grpSpPr bwMode="blackWhite">
          <a:xfrm>
            <a:off x="558723" y="2037810"/>
            <a:ext cx="558179" cy="409838"/>
            <a:chOff x="6953426" y="711274"/>
            <a:chExt cx="558179" cy="409838"/>
          </a:xfrm>
        </p:grpSpPr>
        <p:sp>
          <p:nvSpPr>
            <p:cNvPr id="5" name="Oval 4" descr="Small circle">
              <a:extLst>
                <a:ext uri="{FF2B5EF4-FFF2-40B4-BE49-F238E27FC236}">
                  <a16:creationId xmlns:a16="http://schemas.microsoft.com/office/drawing/2014/main" id="{0E962EFE-9E1B-4EBA-A23E-849D0F33736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 descr="Number 1">
              <a:extLst>
                <a:ext uri="{FF2B5EF4-FFF2-40B4-BE49-F238E27FC236}">
                  <a16:creationId xmlns:a16="http://schemas.microsoft.com/office/drawing/2014/main" id="{3CFCE22A-40CE-4B63-A5D5-B20648FE18D3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1091928" y="2078002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Duplicate this slide: Right-click the slide thumbnail and select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Duplicate Slide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8" name="Picture 7" descr="Slide thumbnail context menu showing the Duplicate Slide option">
            <a:extLst>
              <a:ext uri="{FF2B5EF4-FFF2-40B4-BE49-F238E27FC236}">
                <a16:creationId xmlns:a16="http://schemas.microsoft.com/office/drawing/2014/main" id="{79219B9A-9991-4B3C-A46B-331267D7B1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444" y="1575304"/>
            <a:ext cx="1589393" cy="2044781"/>
          </a:xfrm>
          <a:prstGeom prst="rect">
            <a:avLst/>
          </a:prstGeom>
        </p:spPr>
      </p:pic>
      <p:grpSp>
        <p:nvGrpSpPr>
          <p:cNvPr id="9" name="Group 8" descr="Small circle with number 2 inside  indicating step 2">
            <a:extLst>
              <a:ext uri="{FF2B5EF4-FFF2-40B4-BE49-F238E27FC236}">
                <a16:creationId xmlns:a16="http://schemas.microsoft.com/office/drawing/2014/main" id="{EAEB66BE-3E83-4881-90B8-AF09B5348FD8}"/>
              </a:ext>
            </a:extLst>
          </p:cNvPr>
          <p:cNvGrpSpPr/>
          <p:nvPr/>
        </p:nvGrpSpPr>
        <p:grpSpPr bwMode="blackWhite">
          <a:xfrm>
            <a:off x="558723" y="3526582"/>
            <a:ext cx="558179" cy="409838"/>
            <a:chOff x="6953426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09DD71A3-AA7E-4B16-8E2B-93274BC4ED9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 descr="Number 2">
              <a:extLst>
                <a:ext uri="{FF2B5EF4-FFF2-40B4-BE49-F238E27FC236}">
                  <a16:creationId xmlns:a16="http://schemas.microsoft.com/office/drawing/2014/main" id="{10B09779-8AA2-4FFC-A0C3-0D47471C40C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12" name="Content Placeholder 17" descr="In the second of these two identical slides, change the 3D Model on the right in some way (rotate, move, or resize), then go to Transitions &gt; Morph.">
            <a:extLst>
              <a:ext uri="{FF2B5EF4-FFF2-40B4-BE49-F238E27FC236}">
                <a16:creationId xmlns:a16="http://schemas.microsoft.com/office/drawing/2014/main" id="{DA4BE72C-97DB-4A0D-8CDB-3CD5BB7DCF3E}"/>
              </a:ext>
            </a:extLst>
          </p:cNvPr>
          <p:cNvSpPr txBox="1">
            <a:spLocks/>
          </p:cNvSpPr>
          <p:nvPr/>
        </p:nvSpPr>
        <p:spPr>
          <a:xfrm>
            <a:off x="1091928" y="3566775"/>
            <a:ext cx="2413627" cy="124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second of these two identical slides, change the 3D Model on the right in some way (rotate, move, or resize), then go to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Transitions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Morph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3" name="Picture 12" descr="Transition tab showing morph transition">
            <a:extLst>
              <a:ext uri="{FF2B5EF4-FFF2-40B4-BE49-F238E27FC236}">
                <a16:creationId xmlns:a16="http://schemas.microsoft.com/office/drawing/2014/main" id="{1700602B-85F7-480F-B244-AE5F12DF16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450" y="3469562"/>
            <a:ext cx="2798443" cy="1344293"/>
          </a:xfrm>
          <a:prstGeom prst="rect">
            <a:avLst/>
          </a:prstGeom>
        </p:spPr>
      </p:pic>
      <p:grpSp>
        <p:nvGrpSpPr>
          <p:cNvPr id="14" name="Group 13" descr="Small circle with number 3 inside  indicating step 3">
            <a:extLst>
              <a:ext uri="{FF2B5EF4-FFF2-40B4-BE49-F238E27FC236}">
                <a16:creationId xmlns:a16="http://schemas.microsoft.com/office/drawing/2014/main" id="{A2B3D164-668E-4CA3-9A19-70AA5015EA42}"/>
              </a:ext>
            </a:extLst>
          </p:cNvPr>
          <p:cNvGrpSpPr/>
          <p:nvPr/>
        </p:nvGrpSpPr>
        <p:grpSpPr bwMode="blackWhite">
          <a:xfrm>
            <a:off x="557319" y="5197590"/>
            <a:ext cx="558179" cy="409838"/>
            <a:chOff x="6953426" y="711274"/>
            <a:chExt cx="558179" cy="409838"/>
          </a:xfrm>
        </p:grpSpPr>
        <p:sp>
          <p:nvSpPr>
            <p:cNvPr id="15" name="Oval 14" descr="Small circle">
              <a:extLst>
                <a:ext uri="{FF2B5EF4-FFF2-40B4-BE49-F238E27FC236}">
                  <a16:creationId xmlns:a16="http://schemas.microsoft.com/office/drawing/2014/main" id="{BBF316DB-A0C3-44C1-8567-3C30D24249D8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 descr="Number 3">
              <a:extLst>
                <a:ext uri="{FF2B5EF4-FFF2-40B4-BE49-F238E27FC236}">
                  <a16:creationId xmlns:a16="http://schemas.microsoft.com/office/drawing/2014/main" id="{962E952B-88D1-4EDF-BD53-FD05162A7359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17" name="Content Placeholder 17" descr="Return to the first of the two slides and press the Slide Show button and then select Play to see your parrot morph!">
            <a:extLst>
              <a:ext uri="{FF2B5EF4-FFF2-40B4-BE49-F238E27FC236}">
                <a16:creationId xmlns:a16="http://schemas.microsoft.com/office/drawing/2014/main" id="{BA96EB65-127B-4729-AF55-3A29384772DD}"/>
              </a:ext>
            </a:extLst>
          </p:cNvPr>
          <p:cNvSpPr txBox="1">
            <a:spLocks/>
          </p:cNvSpPr>
          <p:nvPr/>
        </p:nvSpPr>
        <p:spPr>
          <a:xfrm>
            <a:off x="1091928" y="5213879"/>
            <a:ext cx="2961579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Return to the first of the two slides and press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the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Slide Show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button and then select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Play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see your parrot morph!</a:t>
            </a:r>
          </a:p>
        </p:txBody>
      </p:sp>
      <p:pic>
        <p:nvPicPr>
          <p:cNvPr id="18" name="Picture 17" descr="Slide Show button">
            <a:extLst>
              <a:ext uri="{FF2B5EF4-FFF2-40B4-BE49-F238E27FC236}">
                <a16:creationId xmlns:a16="http://schemas.microsoft.com/office/drawing/2014/main" id="{B0340C9A-12F9-4BED-859B-790F5A9D528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98" y="5338362"/>
            <a:ext cx="2419340" cy="100554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0" name="3D Model 19" descr="3D model of a parrot">
                <a:extLst>
                  <a:ext uri="{FF2B5EF4-FFF2-40B4-BE49-F238E27FC236}">
                    <a16:creationId xmlns:a16="http://schemas.microsoft.com/office/drawing/2014/main" id="{FF4C3D36-ED20-4C8A-85D2-83190D332A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8539497"/>
                  </p:ext>
                </p:extLst>
              </p:nvPr>
            </p:nvGraphicFramePr>
            <p:xfrm>
              <a:off x="8303318" y="1575304"/>
              <a:ext cx="1552272" cy="486632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 descr="3D model of a parrot">
                <a:extLst>
                  <a:ext uri="{FF2B5EF4-FFF2-40B4-BE49-F238E27FC236}">
                    <a16:creationId xmlns:a16="http://schemas.microsoft.com/office/drawing/2014/main" id="{FF4C3D36-ED20-4C8A-85D2-83190D332A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03318" y="1575304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Animate Your 3D Model Using the Animations Tab</a:t>
            </a:r>
          </a:p>
        </p:txBody>
      </p:sp>
      <p:sp>
        <p:nvSpPr>
          <p:cNvPr id="4" name="Try It Text" descr="Try it yourself with the parrot on the right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Try it yourself with the parrot on the right:</a:t>
            </a:r>
          </a:p>
        </p:txBody>
      </p:sp>
      <p:sp>
        <p:nvSpPr>
          <p:cNvPr id="5" name="Step 1" descr="Step 1:">
            <a:extLst>
              <a:ext uri="{FF2B5EF4-FFF2-40B4-BE49-F238E27FC236}">
                <a16:creationId xmlns:a16="http://schemas.microsoft.com/office/drawing/2014/main" id="{D4693D8A-3AAB-45B5-8381-3001C700C32F}"/>
              </a:ext>
            </a:extLst>
          </p:cNvPr>
          <p:cNvSpPr/>
          <p:nvPr/>
        </p:nvSpPr>
        <p:spPr bwMode="blackWhite">
          <a:xfrm>
            <a:off x="630366" y="1917997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grpSp>
        <p:nvGrpSpPr>
          <p:cNvPr id="12" name="Lightbulb">
            <a:extLst>
              <a:ext uri="{FF2B5EF4-FFF2-40B4-BE49-F238E27FC236}">
                <a16:creationId xmlns:a16="http://schemas.microsoft.com/office/drawing/2014/main" id="{6F0125D2-0FCC-492A-868C-E09B180AD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715429" y="2514325"/>
            <a:ext cx="187380" cy="278885"/>
            <a:chOff x="5052041" y="3023897"/>
            <a:chExt cx="1009650" cy="150270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2791D9-0616-438D-9CCF-CF1107EBC2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5052041" y="3023897"/>
              <a:ext cx="1009650" cy="1295400"/>
            </a:xfrm>
            <a:custGeom>
              <a:avLst/>
              <a:gdLst>
                <a:gd name="connsiteX0" fmla="*/ 684848 w 1009650"/>
                <a:gd name="connsiteY0" fmla="*/ 1231583 h 1295400"/>
                <a:gd name="connsiteX1" fmla="*/ 329565 w 1009650"/>
                <a:gd name="connsiteY1" fmla="*/ 1231583 h 1295400"/>
                <a:gd name="connsiteX2" fmla="*/ 328613 w 1009650"/>
                <a:gd name="connsiteY2" fmla="*/ 1056323 h 1295400"/>
                <a:gd name="connsiteX3" fmla="*/ 71438 w 1009650"/>
                <a:gd name="connsiteY3" fmla="*/ 504825 h 1295400"/>
                <a:gd name="connsiteX4" fmla="*/ 504825 w 1009650"/>
                <a:gd name="connsiteY4" fmla="*/ 71438 h 1295400"/>
                <a:gd name="connsiteX5" fmla="*/ 508635 w 1009650"/>
                <a:gd name="connsiteY5" fmla="*/ 71438 h 1295400"/>
                <a:gd name="connsiteX6" fmla="*/ 942023 w 1009650"/>
                <a:gd name="connsiteY6" fmla="*/ 504825 h 1295400"/>
                <a:gd name="connsiteX7" fmla="*/ 684848 w 1009650"/>
                <a:gd name="connsiteY7" fmla="*/ 1055370 h 1295400"/>
                <a:gd name="connsiteX8" fmla="*/ 684848 w 1009650"/>
                <a:gd name="connsiteY8" fmla="*/ 123158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295400">
                  <a:moveTo>
                    <a:pt x="684848" y="1231583"/>
                  </a:moveTo>
                  <a:lnTo>
                    <a:pt x="329565" y="1231583"/>
                  </a:lnTo>
                  <a:lnTo>
                    <a:pt x="328613" y="1056323"/>
                  </a:lnTo>
                  <a:cubicBezTo>
                    <a:pt x="328613" y="816293"/>
                    <a:pt x="71438" y="744855"/>
                    <a:pt x="71438" y="504825"/>
                  </a:cubicBezTo>
                  <a:cubicBezTo>
                    <a:pt x="71438" y="264795"/>
                    <a:pt x="265748" y="71438"/>
                    <a:pt x="504825" y="71438"/>
                  </a:cubicBezTo>
                  <a:lnTo>
                    <a:pt x="508635" y="71438"/>
                  </a:lnTo>
                  <a:cubicBezTo>
                    <a:pt x="748665" y="71438"/>
                    <a:pt x="942023" y="265748"/>
                    <a:pt x="942023" y="504825"/>
                  </a:cubicBezTo>
                  <a:cubicBezTo>
                    <a:pt x="942023" y="743903"/>
                    <a:pt x="684848" y="816293"/>
                    <a:pt x="684848" y="1055370"/>
                  </a:cubicBezTo>
                  <a:lnTo>
                    <a:pt x="684848" y="1231583"/>
                  </a:lnTo>
                  <a:close/>
                </a:path>
              </a:pathLst>
            </a:custGeom>
            <a:noFill/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7E028D-B83C-4DAB-9050-329EDFDCB1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5366365" y="4383724"/>
              <a:ext cx="381000" cy="142875"/>
            </a:xfrm>
            <a:custGeom>
              <a:avLst/>
              <a:gdLst>
                <a:gd name="connsiteX0" fmla="*/ 71438 w 381000"/>
                <a:gd name="connsiteY0" fmla="*/ 71437 h 142875"/>
                <a:gd name="connsiteX1" fmla="*/ 313373 w 381000"/>
                <a:gd name="connsiteY1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142875">
                  <a:moveTo>
                    <a:pt x="71438" y="71437"/>
                  </a:moveTo>
                  <a:lnTo>
                    <a:pt x="313373" y="71437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00F250A-168C-4535-995F-4F0478282A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5310168" y="3958952"/>
              <a:ext cx="495301" cy="142874"/>
            </a:xfrm>
            <a:custGeom>
              <a:avLst/>
              <a:gdLst>
                <a:gd name="connsiteX0" fmla="*/ 71437 w 495300"/>
                <a:gd name="connsiteY0" fmla="*/ 71438 h 142875"/>
                <a:gd name="connsiteX1" fmla="*/ 426720 w 495300"/>
                <a:gd name="connsiteY1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300" h="142875">
                  <a:moveTo>
                    <a:pt x="71437" y="71438"/>
                  </a:moveTo>
                  <a:lnTo>
                    <a:pt x="426720" y="71438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6" name="Content Placeholder Step 1" descr="Select the 3D Model on the right, then go to Animations &gt; Turntable&#10;Hint: Effect Options gives you even more options for Turntable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1066037" y="1958188"/>
            <a:ext cx="5110159" cy="1039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the 3D Model on the right, then go to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Animations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&gt;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Turntable</a:t>
            </a:r>
          </a:p>
          <a:p>
            <a:pPr marL="0" indent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Hint: </a:t>
            </a:r>
            <a:r>
              <a:rPr lang="en-US" dirty="0">
                <a:solidFill>
                  <a:srgbClr val="40404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Effect Options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gives you even more options for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Turntable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grpSp>
        <p:nvGrpSpPr>
          <p:cNvPr id="16" name="Screenshot of Animations Tab" descr="Screenshot of the Animations Tab">
            <a:extLst>
              <a:ext uri="{FF2B5EF4-FFF2-40B4-BE49-F238E27FC236}">
                <a16:creationId xmlns:a16="http://schemas.microsoft.com/office/drawing/2014/main" id="{02117659-583F-4772-9DFA-90FF25281D8F}"/>
              </a:ext>
            </a:extLst>
          </p:cNvPr>
          <p:cNvGrpSpPr/>
          <p:nvPr/>
        </p:nvGrpSpPr>
        <p:grpSpPr>
          <a:xfrm>
            <a:off x="589417" y="2805167"/>
            <a:ext cx="5586779" cy="1653788"/>
            <a:chOff x="589417" y="2843186"/>
            <a:chExt cx="6004050" cy="17773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6A8522F-93B2-4065-B8E8-DF09F9F7C876}"/>
                </a:ext>
              </a:extLst>
            </p:cNvPr>
            <p:cNvGrpSpPr/>
            <p:nvPr/>
          </p:nvGrpSpPr>
          <p:grpSpPr>
            <a:xfrm>
              <a:off x="589417" y="2843187"/>
              <a:ext cx="6004050" cy="1777307"/>
              <a:chOff x="589417" y="2843187"/>
              <a:chExt cx="6004050" cy="177730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5AFEDF-7F88-4FEF-89A7-619232462DE9}"/>
                  </a:ext>
                </a:extLst>
              </p:cNvPr>
              <p:cNvGrpSpPr/>
              <p:nvPr/>
            </p:nvGrpSpPr>
            <p:grpSpPr>
              <a:xfrm>
                <a:off x="589417" y="2843187"/>
                <a:ext cx="6004050" cy="1777307"/>
                <a:chOff x="589417" y="2843187"/>
                <a:chExt cx="6004050" cy="1777307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B057055-9189-4D20-A63A-06EFD29C9A9D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>
                  <a:off x="715428" y="3025663"/>
                  <a:ext cx="5298384" cy="1531492"/>
                </a:xfrm>
                <a:prstGeom prst="rect">
                  <a:avLst/>
                </a:prstGeom>
                <a:solidFill>
                  <a:srgbClr val="F5F5F5"/>
                </a:solidFill>
                <a:ln>
                  <a:noFill/>
                </a:ln>
                <a:effectLst>
                  <a:outerShdw blurRad="127000" dist="38100" dir="13500000" algn="b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78D8923-44F1-4A00-A9E8-452B168CEB89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 rot="16200000">
                  <a:off x="5130439" y="3157466"/>
                  <a:ext cx="1777307" cy="114874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  <a:gs pos="55000">
                      <a:srgbClr val="F5F5F5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B5A5933-09B4-40BE-A4AD-C96C849C04A9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>
                  <a:off x="589417" y="3907597"/>
                  <a:ext cx="6004044" cy="711560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  <a:gs pos="55000">
                      <a:srgbClr val="F5F5F5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/>
                </a:p>
              </p:txBody>
            </p:sp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C361283-744D-4763-88CC-E297E5B207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29862" b="12659"/>
              <a:stretch/>
            </p:blipFill>
            <p:spPr>
              <a:xfrm>
                <a:off x="715428" y="3025663"/>
                <a:ext cx="5878039" cy="1516371"/>
              </a:xfrm>
              <a:prstGeom prst="rect">
                <a:avLst/>
              </a:prstGeom>
            </p:spPr>
          </p:pic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F91554-0A55-4B72-8F4C-E55038A276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6200000">
              <a:off x="5086697" y="3112392"/>
              <a:ext cx="1775971" cy="1237559"/>
            </a:xfrm>
            <a:prstGeom prst="rect">
              <a:avLst/>
            </a:prstGeom>
            <a:gradFill flip="none" rotWithShape="1">
              <a:gsLst>
                <a:gs pos="50000">
                  <a:srgbClr val="F5F5F5">
                    <a:alpha val="61000"/>
                  </a:srgbClr>
                </a:gs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</p:grpSp>
      <p:sp>
        <p:nvSpPr>
          <p:cNvPr id="7" name="Step 2" descr="Step 2:">
            <a:extLst>
              <a:ext uri="{FF2B5EF4-FFF2-40B4-BE49-F238E27FC236}">
                <a16:creationId xmlns:a16="http://schemas.microsoft.com/office/drawing/2014/main" id="{D7689DB6-3948-40C3-8F69-1ED48F5AE1BB}"/>
              </a:ext>
            </a:extLst>
          </p:cNvPr>
          <p:cNvSpPr/>
          <p:nvPr/>
        </p:nvSpPr>
        <p:spPr bwMode="blackWhite">
          <a:xfrm>
            <a:off x="630366" y="4599272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ontent Placeholder Step 2" descr="Explore the other new animations designed specifically for 3D models: Arrive, Swing, Jump &amp; Turn, and Leave.">
            <a:extLst>
              <a:ext uri="{FF2B5EF4-FFF2-40B4-BE49-F238E27FC236}">
                <a16:creationId xmlns:a16="http://schemas.microsoft.com/office/drawing/2014/main" id="{F8DE0424-CE18-47F6-BBF5-736B335BC89A}"/>
              </a:ext>
            </a:extLst>
          </p:cNvPr>
          <p:cNvSpPr txBox="1">
            <a:spLocks/>
          </p:cNvSpPr>
          <p:nvPr/>
        </p:nvSpPr>
        <p:spPr>
          <a:xfrm>
            <a:off x="1066037" y="4639464"/>
            <a:ext cx="5110159" cy="723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Explore the other new animations designed specifically for 3D models: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Arrive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Swing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Jump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&amp; Turn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Leave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0" name="Step 3" descr="Step 3">
            <a:extLst>
              <a:ext uri="{FF2B5EF4-FFF2-40B4-BE49-F238E27FC236}">
                <a16:creationId xmlns:a16="http://schemas.microsoft.com/office/drawing/2014/main" id="{9D4BEFE4-E36D-4025-A26C-11D7E10A9478}"/>
              </a:ext>
            </a:extLst>
          </p:cNvPr>
          <p:cNvSpPr/>
          <p:nvPr/>
        </p:nvSpPr>
        <p:spPr bwMode="blackWhite">
          <a:xfrm>
            <a:off x="630366" y="5381614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Content Placeholder Step 3" descr="Click Add Animation to combine the new 3D animations with other classic 2D animations, such as Fade, Grow/Shrink, or one of the many Motion Path animations to test and see what is possible.">
            <a:extLst>
              <a:ext uri="{FF2B5EF4-FFF2-40B4-BE49-F238E27FC236}">
                <a16:creationId xmlns:a16="http://schemas.microsoft.com/office/drawing/2014/main" id="{8BCD932C-F4F1-4949-983C-017934B3CCBC}"/>
              </a:ext>
            </a:extLst>
          </p:cNvPr>
          <p:cNvSpPr txBox="1">
            <a:spLocks/>
          </p:cNvSpPr>
          <p:nvPr/>
        </p:nvSpPr>
        <p:spPr>
          <a:xfrm>
            <a:off x="1066037" y="5421806"/>
            <a:ext cx="5110159" cy="79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Click Add Animation to combine the new 3D animations with other classic 2D animations, such as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Fade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Grow/Shrink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or one of the many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Motion Path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animations to test and see what is possible.</a:t>
            </a:r>
          </a:p>
        </p:txBody>
      </p: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4" name="3D Model 23" descr="3D model of a parrot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1715206"/>
                  </p:ext>
                </p:extLst>
              </p:nvPr>
            </p:nvGraphicFramePr>
            <p:xfrm>
              <a:off x="8134006" y="1431342"/>
              <a:ext cx="1552272" cy="486632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3D Model 23" descr="3D model of a parrot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4006" y="1431342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More questions about PowerPoint?</a:t>
            </a:r>
          </a:p>
        </p:txBody>
      </p:sp>
      <p:sp>
        <p:nvSpPr>
          <p:cNvPr id="5" name="Tell Me Text" descr="Select the Tell Me button and type what you want to know.&#10;"/>
          <p:cNvSpPr>
            <a:spLocks noGrp="1"/>
          </p:cNvSpPr>
          <p:nvPr>
            <p:ph sz="half" idx="4294967295"/>
          </p:nvPr>
        </p:nvSpPr>
        <p:spPr>
          <a:xfrm>
            <a:off x="521208" y="2679617"/>
            <a:ext cx="7766738" cy="544904"/>
          </a:xfrm>
        </p:spPr>
        <p:txBody>
          <a:bodyPr>
            <a:noAutofit/>
          </a:bodyPr>
          <a:lstStyle/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Select the </a:t>
            </a:r>
            <a:r>
              <a:rPr lang="en-US" sz="20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Tell Me                   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button and type what you want to know.</a:t>
            </a:r>
          </a:p>
        </p:txBody>
      </p:sp>
      <p:pic>
        <p:nvPicPr>
          <p:cNvPr id="2" name="Tell Me Button Close-up" descr="Tell Me butto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181" y="2350333"/>
            <a:ext cx="1269672" cy="1189747"/>
          </a:xfrm>
          <a:prstGeom prst="rect">
            <a:avLst/>
          </a:prstGeom>
        </p:spPr>
      </p:pic>
      <p:grpSp>
        <p:nvGrpSpPr>
          <p:cNvPr id="24" name="Tell Me Picture">
            <a:extLst>
              <a:ext uri="{FF2B5EF4-FFF2-40B4-BE49-F238E27FC236}">
                <a16:creationId xmlns:a16="http://schemas.microsoft.com/office/drawing/2014/main" id="{E294B580-9A21-406E-956B-7B3A0F93C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8536716" y="1884807"/>
            <a:ext cx="3134076" cy="2677952"/>
            <a:chOff x="8536716" y="1884807"/>
            <a:chExt cx="3134076" cy="2677952"/>
          </a:xfrm>
        </p:grpSpPr>
        <p:pic>
          <p:nvPicPr>
            <p:cNvPr id="11" name="Picture 10" descr="Tell Me box suggestions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36716" y="2324628"/>
              <a:ext cx="3134076" cy="2238131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CE6C5E3-70C8-45F8-ACDC-FDA61C407AC6}"/>
                </a:ext>
              </a:extLst>
            </p:cNvPr>
            <p:cNvGrpSpPr/>
            <p:nvPr/>
          </p:nvGrpSpPr>
          <p:grpSpPr>
            <a:xfrm>
              <a:off x="8536716" y="1884807"/>
              <a:ext cx="3134076" cy="452977"/>
              <a:chOff x="9040988" y="1083215"/>
              <a:chExt cx="3134076" cy="452977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507D88-B17C-4005-9465-C089E6BDCE4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/>
            </p:nvSpPr>
            <p:spPr>
              <a:xfrm>
                <a:off x="9040988" y="1083215"/>
                <a:ext cx="3134076" cy="452977"/>
              </a:xfrm>
              <a:prstGeom prst="rect">
                <a:avLst/>
              </a:prstGeom>
              <a:solidFill>
                <a:srgbClr val="9239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CC0DDBC-5D45-45EC-B3A7-4A87D5AC06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/>
            </p:nvCxnSpPr>
            <p:spPr>
              <a:xfrm>
                <a:off x="9375775" y="1198578"/>
                <a:ext cx="0" cy="222250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D23CF99-30DD-4C42-A3D5-D9C7DF60A66E}"/>
                  </a:ext>
                </a:extLst>
              </p:cNvPr>
              <p:cNvGrpSpPr/>
              <p:nvPr/>
            </p:nvGrpSpPr>
            <p:grpSpPr>
              <a:xfrm>
                <a:off x="9129954" y="1192976"/>
                <a:ext cx="156856" cy="233455"/>
                <a:chOff x="7873416" y="1716789"/>
                <a:chExt cx="187380" cy="278885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2B12E68-8015-487A-87C4-BF63E9056659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>
                  <a:off x="7873416" y="1716789"/>
                  <a:ext cx="187380" cy="240412"/>
                </a:xfrm>
                <a:custGeom>
                  <a:avLst/>
                  <a:gdLst>
                    <a:gd name="connsiteX0" fmla="*/ 684848 w 1009650"/>
                    <a:gd name="connsiteY0" fmla="*/ 1231583 h 1295400"/>
                    <a:gd name="connsiteX1" fmla="*/ 329565 w 1009650"/>
                    <a:gd name="connsiteY1" fmla="*/ 1231583 h 1295400"/>
                    <a:gd name="connsiteX2" fmla="*/ 328613 w 1009650"/>
                    <a:gd name="connsiteY2" fmla="*/ 1056323 h 1295400"/>
                    <a:gd name="connsiteX3" fmla="*/ 71438 w 1009650"/>
                    <a:gd name="connsiteY3" fmla="*/ 504825 h 1295400"/>
                    <a:gd name="connsiteX4" fmla="*/ 504825 w 1009650"/>
                    <a:gd name="connsiteY4" fmla="*/ 71438 h 1295400"/>
                    <a:gd name="connsiteX5" fmla="*/ 508635 w 1009650"/>
                    <a:gd name="connsiteY5" fmla="*/ 71438 h 1295400"/>
                    <a:gd name="connsiteX6" fmla="*/ 942023 w 1009650"/>
                    <a:gd name="connsiteY6" fmla="*/ 504825 h 1295400"/>
                    <a:gd name="connsiteX7" fmla="*/ 684848 w 1009650"/>
                    <a:gd name="connsiteY7" fmla="*/ 1055370 h 1295400"/>
                    <a:gd name="connsiteX8" fmla="*/ 684848 w 1009650"/>
                    <a:gd name="connsiteY8" fmla="*/ 1231583 h 129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09650" h="1295400">
                      <a:moveTo>
                        <a:pt x="684848" y="1231583"/>
                      </a:moveTo>
                      <a:lnTo>
                        <a:pt x="329565" y="1231583"/>
                      </a:lnTo>
                      <a:lnTo>
                        <a:pt x="328613" y="1056323"/>
                      </a:lnTo>
                      <a:cubicBezTo>
                        <a:pt x="328613" y="816293"/>
                        <a:pt x="71438" y="744855"/>
                        <a:pt x="71438" y="504825"/>
                      </a:cubicBezTo>
                      <a:cubicBezTo>
                        <a:pt x="71438" y="264795"/>
                        <a:pt x="265748" y="71438"/>
                        <a:pt x="504825" y="71438"/>
                      </a:cubicBezTo>
                      <a:lnTo>
                        <a:pt x="508635" y="71438"/>
                      </a:lnTo>
                      <a:cubicBezTo>
                        <a:pt x="748665" y="71438"/>
                        <a:pt x="942023" y="265748"/>
                        <a:pt x="942023" y="504825"/>
                      </a:cubicBezTo>
                      <a:cubicBezTo>
                        <a:pt x="942023" y="743903"/>
                        <a:pt x="684848" y="816293"/>
                        <a:pt x="684848" y="1055370"/>
                      </a:cubicBezTo>
                      <a:lnTo>
                        <a:pt x="684848" y="1231583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AU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3F670A2-659E-4A77-9D8E-6948136D4ACB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>
                  <a:off x="7912702" y="1969158"/>
                  <a:ext cx="108000" cy="26516"/>
                </a:xfrm>
                <a:custGeom>
                  <a:avLst/>
                  <a:gdLst>
                    <a:gd name="connsiteX0" fmla="*/ 71438 w 381000"/>
                    <a:gd name="connsiteY0" fmla="*/ 71437 h 142875"/>
                    <a:gd name="connsiteX1" fmla="*/ 313373 w 381000"/>
                    <a:gd name="connsiteY1" fmla="*/ 71437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1000" h="142875">
                      <a:moveTo>
                        <a:pt x="71438" y="71437"/>
                      </a:moveTo>
                      <a:lnTo>
                        <a:pt x="313373" y="71437"/>
                      </a:lnTo>
                    </a:path>
                  </a:pathLst>
                </a:custGeom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AU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4FD6AB2-EB32-402C-BC6B-579C8B08D541}"/>
                    </a:ext>
                    <a:ext uri="{C183D7F6-B498-43B3-948B-1728B52AA6E4}">
                      <adec:decorative xmlns:adec="http://schemas.microsoft.com/office/drawing/2017/decorative" xmlns="" val="1"/>
                    </a:ext>
                  </a:extLst>
                </p:cNvPr>
                <p:cNvSpPr/>
                <p:nvPr/>
              </p:nvSpPr>
              <p:spPr>
                <a:xfrm>
                  <a:off x="7921322" y="1890325"/>
                  <a:ext cx="91922" cy="26516"/>
                </a:xfrm>
                <a:custGeom>
                  <a:avLst/>
                  <a:gdLst>
                    <a:gd name="connsiteX0" fmla="*/ 71437 w 495300"/>
                    <a:gd name="connsiteY0" fmla="*/ 71438 h 142875"/>
                    <a:gd name="connsiteX1" fmla="*/ 426720 w 495300"/>
                    <a:gd name="connsiteY1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95300" h="142875">
                      <a:moveTo>
                        <a:pt x="71437" y="71438"/>
                      </a:moveTo>
                      <a:lnTo>
                        <a:pt x="426720" y="71438"/>
                      </a:lnTo>
                    </a:path>
                  </a:pathLst>
                </a:custGeom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AU"/>
                </a:p>
              </p:txBody>
            </p:sp>
          </p:grpSp>
        </p:grpSp>
      </p:grpSp>
      <p:grpSp>
        <p:nvGrpSpPr>
          <p:cNvPr id="26" name="Links" descr="Hyperlinks to the PowerPoint team blog, PowerPoint free training, and feedback about this tour.">
            <a:extLst>
              <a:ext uri="{FF2B5EF4-FFF2-40B4-BE49-F238E27FC236}">
                <a16:creationId xmlns:a16="http://schemas.microsoft.com/office/drawing/2014/main" id="{A410C95B-7D22-4AE4-BEE0-35AD5FA96E07}"/>
              </a:ext>
            </a:extLst>
          </p:cNvPr>
          <p:cNvGrpSpPr/>
          <p:nvPr/>
        </p:nvGrpSpPr>
        <p:grpSpPr>
          <a:xfrm>
            <a:off x="521208" y="3629258"/>
            <a:ext cx="4248508" cy="1867001"/>
            <a:chOff x="3832853" y="3420317"/>
            <a:chExt cx="4248508" cy="1867001"/>
          </a:xfrm>
        </p:grpSpPr>
        <p:sp>
          <p:nvSpPr>
            <p:cNvPr id="9" name="TextBox 8" descr="SELECT THE ARROW WHEN IN SLIDE SHOW MODE&#10;"/>
            <p:cNvSpPr txBox="1"/>
            <p:nvPr/>
          </p:nvSpPr>
          <p:spPr>
            <a:xfrm>
              <a:off x="3832853" y="4920686"/>
              <a:ext cx="3368047" cy="267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11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SELECT THE ARROW WHEN IN SLIDE SHOW MODE</a:t>
              </a:r>
              <a:endParaRPr lang="en-US" sz="11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8" name="Picture 7" descr="Arrow pointing right with a hyperlink to the PowerPoint team blog. Select the image to visit the PowerPoint team blog ">
              <a:hlinkClick r:id="rId5" tooltip="Select here to visit the PowerPoint team blog."/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9421" y="3420317"/>
              <a:ext cx="661940" cy="661940"/>
            </a:xfrm>
            <a:prstGeom prst="rect">
              <a:avLst/>
            </a:prstGeom>
          </p:spPr>
        </p:pic>
        <p:pic>
          <p:nvPicPr>
            <p:cNvPr id="7" name="Picture 6" descr="Arrow pointing right with a hyperlink to free PowerPoint training. Select the image to access free PowerPoint training">
              <a:hlinkClick r:id="rId7" tooltip="Select here to go to free PowerPoint training."/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9421" y="4198633"/>
              <a:ext cx="661940" cy="661940"/>
            </a:xfrm>
            <a:prstGeom prst="rect">
              <a:avLst/>
            </a:prstGeom>
          </p:spPr>
        </p:pic>
        <p:sp>
          <p:nvSpPr>
            <p:cNvPr id="25" name="Content Placeholder 4">
              <a:extLst>
                <a:ext uri="{FF2B5EF4-FFF2-40B4-BE49-F238E27FC236}">
                  <a16:creationId xmlns:a16="http://schemas.microsoft.com/office/drawing/2014/main" id="{8E6C017A-BE5B-443C-B929-BF7D929C214F}"/>
                </a:ext>
              </a:extLst>
            </p:cNvPr>
            <p:cNvSpPr txBox="1">
              <a:spLocks/>
            </p:cNvSpPr>
            <p:nvPr/>
          </p:nvSpPr>
          <p:spPr>
            <a:xfrm>
              <a:off x="3832853" y="3420317"/>
              <a:ext cx="3488190" cy="186700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  <a:spcBef>
                  <a:spcPts val="2400"/>
                </a:spcBef>
                <a:spcAft>
                  <a:spcPts val="0"/>
                </a:spcAft>
              </a:pPr>
              <a:r>
                <a:rPr lang="en-US" sz="2000" u="sng" dirty="0">
                  <a:latin typeface="Segoe UI Light" panose="020B0502040204020203" pitchFamily="34" charset="0"/>
                  <a:cs typeface="Segoe UI Light" panose="020B0502040204020203" pitchFamily="34" charset="0"/>
                  <a:hlinkClick r:id="rId5" tooltip="Visit the PowerPoint team blog"/>
                </a:rPr>
                <a:t>Visit the PowerPoint team blog</a:t>
              </a:r>
              <a:endParaRPr lang="en-US" sz="2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>
                <a:lnSpc>
                  <a:spcPts val="3600"/>
                </a:lnSpc>
                <a:spcBef>
                  <a:spcPts val="2400"/>
                </a:spcBef>
                <a:spcAft>
                  <a:spcPts val="0"/>
                </a:spcAft>
              </a:pPr>
              <a:r>
                <a:rPr lang="en-US" sz="2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7" tooltip="Go to free PowerPoint training"/>
                </a:rPr>
                <a:t>Go to free PowerPoint training</a:t>
              </a:r>
              <a:endParaRPr lang="en-US" sz="2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16411177_Bring Your Presentations_win32_mlw - v3" id="{DE0A717D-0B12-4D44-8613-A03A4CD6D7EE}" vid="{30B64ACD-7D47-478C-8DC1-E97D1D0752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A56FF6-92BD-46DE-9059-01B9F08E88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90717D-CB20-4004-8DD0-01756D9D039A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16c05727-aa75-4e4a-9b5f-8a80a1165891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620A972-1CDD-4EF3-89C2-EBD9E5E1FD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Bring your presentations to life with 3D</Template>
  <TotalTime>0</TotalTime>
  <Words>750</Words>
  <Application>Microsoft Office PowerPoint</Application>
  <PresentationFormat>Widescreen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Segoe UI Semibold</vt:lpstr>
      <vt:lpstr>Get Started with 3D</vt:lpstr>
      <vt:lpstr>Projeto Balança - linganguli</vt:lpstr>
      <vt:lpstr>Montagem – Balança com ponte de Wheatstone</vt:lpstr>
      <vt:lpstr>How to Insert a 3D Model</vt:lpstr>
      <vt:lpstr>Have Your Own 3D Model? You Can Import It!</vt:lpstr>
      <vt:lpstr>Two Ways to Position and Rotate Your 3D Model</vt:lpstr>
      <vt:lpstr>Pan and Zoom</vt:lpstr>
      <vt:lpstr>Now Animate Your 3D Model Using the Morph Transition</vt:lpstr>
      <vt:lpstr>Animate Your 3D Model Using the Animations Tab</vt:lpstr>
      <vt:lpstr>More questions about PowerPoint?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2026-04-22T08:32:24Z</dcterms:created>
  <dcterms:modified xsi:type="dcterms:W3CDTF">2026-04-22T09:20:56Z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